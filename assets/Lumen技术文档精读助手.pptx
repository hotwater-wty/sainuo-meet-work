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xml" ContentType="application/xml"/>
  <Default Extension="rels" ContentType="application/vnd.openxmlformats-package.relationships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slides/slide4.xml" ContentType="application/vnd.openxmlformats-officedocument.presentationml.slide+xml"/>
  <Override PartName="/ppt/theme/theme2.xml" ContentType="application/vnd.openxmlformats-officedocument.theme+xml"/>
  <Override PartName="/ppt/slides/slide3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docProps/core.xml" ContentType="application/vnd.openxmlformats-package.core-properties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11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8.xml" /><Relationship Id="rId9" Type="http://schemas.openxmlformats.org/officeDocument/2006/relationships/slide" Target="slides/slide9.xml" /><Relationship Id="rId6" Type="http://schemas.openxmlformats.org/officeDocument/2006/relationships/slide" Target="slides/slide6.xml" /><Relationship Id="rId5" Type="http://schemas.openxmlformats.org/officeDocument/2006/relationships/slide" Target="slides/slide5.xml" /><Relationship Id="rId14" Type="http://schemas.openxmlformats.org/officeDocument/2006/relationships/viewProps" Target="viewProp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13" Type="http://schemas.openxmlformats.org/officeDocument/2006/relationships/tableStyles" Target="tableStyles.xml" /><Relationship Id="rId0" Type="http://schemas.openxmlformats.org/officeDocument/2006/relationships/slideMaster" Target="slideMasters/slideMaster1.xml" /><Relationship Id="rId12" Type="http://schemas.openxmlformats.org/officeDocument/2006/relationships/presProps" Target="presProps.xml" /><Relationship Id="rId7" Type="http://schemas.openxmlformats.org/officeDocument/2006/relationships/slide" Target="slides/slide7.xml" /><Relationship Id="rId10" Type="http://schemas.openxmlformats.org/officeDocument/2006/relationships/slide" Target="slides/slide10.xml" /><Relationship Id="rId2" Type="http://schemas.openxmlformats.org/officeDocument/2006/relationships/slide" Target="slides/slide2.xml" /><Relationship Id="rId11" Type="http://schemas.openxmlformats.org/officeDocument/2006/relationships/notesMaster" Target="notesMasters/notesMaster1.xml" /><Relationship Id="rId1" Type="http://schemas.openxmlformats.org/officeDocument/2006/relationships/slide" Target="slides/slide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svg" /><Relationship Id="rId2" Type="http://schemas.openxmlformats.org/officeDocument/2006/relationships/image" Target="media/image2.pn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1.sv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2" Type="http://schemas.openxmlformats.org/officeDocument/2006/relationships/image" Target="media/image1.svg" /><Relationship Id="rId1" Type="http://schemas.openxmlformats.org/officeDocument/2006/relationships/image" Target="media/image3.sv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.sv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2" Type="http://schemas.openxmlformats.org/officeDocument/2006/relationships/image" Target="media/image1.svg" /><Relationship Id="rId1" Type="http://schemas.openxmlformats.org/officeDocument/2006/relationships/image" Target="media/image4.sv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2" Type="http://schemas.openxmlformats.org/officeDocument/2006/relationships/image" Target="media/image6.png" /><Relationship Id="rId1" Type="http://schemas.openxmlformats.org/officeDocument/2006/relationships/image" Target="media/image5.png" /><Relationship Id="rId3" Type="http://schemas.openxmlformats.org/officeDocument/2006/relationships/image" Target="media/image7.pn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.sv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1.svg" /><Relationship Id="rId0" Type="http://schemas.openxmlformats.org/officeDocument/2006/relationships/slideLayout" Target="../slideLayouts/slideLayout1.xml" /></Relationships>
</file>

<file path=ppt/slides/slide1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" name="" descr="&lt;Slide&#10;  notes={`&#10;    大家好，我是王腾宇。今天汇报的项目叫 Lumen，是一个技术文档精读助手。一句话说，它把一份陌生的技术规范，转成一条可执行的精读路线。&#10;`}&#10;&gt;&#10;  &lt;Box style={{ width: '100%', height: '100%', flexDirection: 'row', background: '#1E3A5F' }}&gt;&#10;    {/* 左侧深蓝内容区 */}&#10;    &lt;Box style={{&#10;      width: '48%', height: '100%',&#10;      flexDirection: 'column', justifyContent: 'center',&#10;      paddingLeft: 72, paddingRight: 40,&#10;      background: '#1E3A5F',&#10;    }}&gt;&#10;      &lt;Text style={{ fontSize: 16, fontWeight: 'bold', color: '#F59E0B', letterSpacing: 3 }}&gt;&#10;        READ THE SOURCE · KEEP THE CONTEXT&#10;      &lt;/Text&gt;&#10;      &lt;Text style={{&#10;        fontSize: 60, fontWeight: 'bold', color: '#FFFFFF', lineHeight: 1.2, marginTop: 20&#10;      }}&gt;&#10;        Lumen&lt;span style={{ color: '#F59E0B' }}&gt; · &lt;/span&gt;技术文档精读助手&#10;      &lt;/Text&gt;&#10;      &lt;Text style={{ fontSize: 22, color: '#CBD5E1', lineHeight: 1.5, marginTop: 24 }}&gt;&#10;        把一份陌生技术规范，&lt;br /&gt;转成可执行精读路线&#10;      &lt;/Text&gt;&#10;      &lt;Text style={{ fontSize: 16, color: '#94A3B8', lineHeight: 1.5, marginTop: 32 }}&gt;&#10;        公司 AI 产品应用开发面试作业&#10;      &lt;/Text&gt;&#10;      &lt;Box style={{ flexDirection: 'row', alignItems: 'center', gap: 12, marginTop: 28 }}&gt;&#10;        &lt;FAIcon name='user' style={{ fill: '#94A3B8', width: 20, height: 20 }} /&gt;&#10;        &lt;Text style={{ fontSize: 16, color: '#CBD5E1' }}&gt;王腾宇 · AI 产品应用开发实习生&lt;/Text&gt;&#10;      &lt;/Box&gt;&#10;      &lt;Box style={{ flexDirection: 'row', alignItems: 'center', gap: 12, marginTop: 12 }}&gt;&#10;        &lt;FAIcon name='calendar-alt' style={{ fill: '#94A3B8', width: 20, height: 20 }} /&gt;&#10;        &lt;Text style={{ fontSize: 16, color: '#94A3B8' }}&gt;2026 年 9 月&lt;/Text&gt;&#10;      &lt;/Box&gt;&#10;    &lt;/Box&gt;&#10;&#10;    {/* 右侧产品截图 */}&#10;    &lt;Box style={{ width: '52%', height: '100%', alignItems: 'center', justifyContent: 'center' }}&gt;&#10;      &lt;Box style={{&#10;        width: '88%', height: '82%',&#10;        borderRadius: 16, overflow: 'hidden',&#10;        boxShadow: '0 20px 60px rgba(0,0,0,0.4)',&#10;      }}&gt;&#10;        &lt;Image src=&quot;assets/01-landing.png&quot; style={{ width: '100%', height: '100%', objectFit: 'cover' }} /&gt;&#10;      &lt;/Box&gt;&#10;    &lt;/Box&gt;&#10;&#10;    {/* 底部装饰条 */}&#10;    &lt;Box style={{&#10;      position: 'absolute', left: 0, bottom: 0, width: '100%', height: 8,&#10;      background: 'linear-gradient(90deg, #F59E0B 0%, #3B82F6 100%)',&#10;    }} /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5848350" cy="68580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685800" y="1247775"/>
            <a:ext cx="4781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225">
                <a:solidFill>
                  <a:srgbClr val="F59E0B"/>
                </a:solidFill>
                <a:latin typeface="Microsoft YaHei"/>
                <a:ea typeface="Microsoft YaHei"/>
              </a:rPr>
              <a:t>READ THE SOURCE · KEEP THE CONTEXT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85800" y="1628775"/>
            <a:ext cx="4781550" cy="1647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20000"/>
              </a:lnSpc>
            </a:pPr>
            <a:r>
              <a:rPr lang="en-US" sz="4500" b="1">
                <a:solidFill>
                  <a:srgbClr val="FFFFFF"/>
                </a:solidFill>
                <a:latin typeface="Microsoft YaHei"/>
                <a:ea typeface="Microsoft YaHei"/>
              </a:rPr>
              <a:t>Lumen</a:t>
            </a:r>
            <a:r>
              <a:rPr lang="en-US" sz="4500" b="1">
                <a:solidFill>
                  <a:srgbClr val="F59E0B"/>
                </a:solidFill>
                <a:latin typeface="Microsoft YaHei"/>
                <a:ea typeface="Microsoft YaHei"/>
              </a:rPr>
              <a:t> · </a:t>
            </a:r>
            <a:r>
              <a:rPr lang="zh-CN" sz="4500" b="1">
                <a:solidFill>
                  <a:srgbClr val="FFFFFF"/>
                </a:solidFill>
                <a:latin typeface="Microsoft YaHei"/>
                <a:ea typeface="Microsoft YaHei"/>
              </a:rPr>
              <a:t>技术文档精读助手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85800" y="3505200"/>
            <a:ext cx="4781550" cy="762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>
                <a:solidFill>
                  <a:srgbClr val="CBD5E1"/>
                </a:solidFill>
                <a:latin typeface="Microsoft YaHei"/>
                <a:ea typeface="Microsoft YaHei"/>
              </a:rPr>
              <a:t>把一份陌生技术规范，</a:t>
            </a:r>
            <a:endParaRPr/>
          </a:p>
          <a:p>
            <a:pPr>
              <a:lnSpc>
                <a:spcPct val="150000"/>
              </a:lnSpc>
            </a:pPr>
            <a:r>
              <a:rPr lang="zh-CN" sz="1650">
                <a:solidFill>
                  <a:srgbClr val="CBD5E1"/>
                </a:solidFill>
                <a:latin typeface="Microsoft YaHei"/>
                <a:ea typeface="Microsoft YaHei"/>
              </a:rPr>
              <a:t>转成可执行精读路线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85800" y="4572000"/>
            <a:ext cx="47815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公司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 AI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产品应用开发面试作业</a:t>
            </a:r>
            <a:endParaRPr/>
          </a:p>
        </p:txBody>
      </p:sp>
      <p:pic>
        <p:nvPicPr>
          <p:cNvPr id="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5114925"/>
            <a:ext cx="190500" cy="190500"/>
          </a:xfrm>
          <a:prstGeom prst="rect">
            <a:avLst/>
          </a:prstGeom>
          <a:ln/>
        </p:spPr>
      </p:pic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990600" y="5114925"/>
            <a:ext cx="2152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王腾宇</a:t>
            </a:r>
            <a:r>
              <a:rPr lang="en-US" sz="1200">
                <a:solidFill>
                  <a:srgbClr val="CBD5E1"/>
                </a:solidFill>
                <a:latin typeface="Microsoft YaHei"/>
                <a:ea typeface="Microsoft YaHei"/>
              </a:rPr>
              <a:t> · AI </a:t>
            </a: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产品应用开发实习生</a:t>
            </a:r>
            <a:endParaRPr/>
          </a:p>
        </p:txBody>
      </p:sp>
      <p:pic>
        <p:nvPicPr>
          <p:cNvPr id="1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5419725"/>
            <a:ext cx="190500" cy="190500"/>
          </a:xfrm>
          <a:prstGeom prst="rect">
            <a:avLst/>
          </a:prstGeom>
          <a:ln/>
        </p:spPr>
      </p:pic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990600" y="5419725"/>
            <a:ext cx="857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2026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年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 9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6229350" y="619125"/>
            <a:ext cx="5581650" cy="5619750"/>
          </a:xfrm>
          <a:prstGeom prst="roundRect">
            <a:avLst>
              <a:gd name="adj" fmla="val 2730"/>
            </a:avLst>
          </a:prstGeom>
          <a:ln/>
          <a:effectLst>
            <a:outerShdw blurRad="571500" dist="190500" dir="5400000">
              <a:srgbClr val="000000">
                <a:alpha val="40000"/>
              </a:srgbClr>
            </a:outerShdw>
          </a:effectLst>
        </p:spPr>
        <p:txBody>
          <a:bodyPr/>
          <a:p/>
        </p:txBody>
      </p:sp>
      <p:pic>
        <p:nvPicPr>
          <p:cNvPr id="13" name=""/>
          <p:cNvPicPr>
            <a:picLocks noChangeAspect="1"/>
          </p:cNvPicPr>
          <p:nvPr/>
        </p:nvPicPr>
        <p:blipFill>
          <a:blip r:embed="rId2"/>
          <a:srcRect l="18978" t="0" r="18978" b="0"/>
          <a:stretch>
            <a:fillRect/>
          </a:stretch>
        </p:blipFill>
        <p:spPr>
          <a:xfrm rot="0" flipH="0" flipV="0">
            <a:off x="6229350" y="619125"/>
            <a:ext cx="5581650" cy="5619750"/>
          </a:xfrm>
          <a:custGeom>
            <a:pathLst>
              <a:path w="586" h="590">
                <a:moveTo>
                  <a:pt x="570" y="0"/>
                </a:moveTo>
                <a:cubicBezTo>
                  <a:pt x="579" y="0"/>
                  <a:pt x="586" y="7"/>
                  <a:pt x="586" y="16"/>
                </a:cubicBezTo>
                <a:lnTo>
                  <a:pt x="586" y="574"/>
                </a:lnTo>
                <a:cubicBezTo>
                  <a:pt x="586" y="583"/>
                  <a:pt x="579" y="590"/>
                  <a:pt x="570" y="590"/>
                </a:cubicBezTo>
                <a:lnTo>
                  <a:pt x="16" y="590"/>
                </a:lnTo>
                <a:cubicBezTo>
                  <a:pt x="7" y="590"/>
                  <a:pt x="0" y="583"/>
                  <a:pt x="0" y="574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lnTo>
                  <a:pt x="570" y="0"/>
                </a:lnTo>
                <a:close/>
              </a:path>
            </a:pathLst>
          </a:custGeom>
          <a:ln/>
        </p:spPr>
      </p:pic>
      <p:sp>
        <p:nvSpPr>
          <p:cNvPr id="14" name=""/>
          <p:cNvSpPr/>
          <p:nvPr/>
        </p:nvSpPr>
        <p:spPr>
          <a:xfrm rot="0" flipH="0" flipV="0">
            <a:off x="0" y="6781800"/>
            <a:ext cx="12192000" cy="76200"/>
          </a:xfrm>
          <a:prstGeom prst="rect">
            <a:avLst/>
          </a:prstGeom>
          <a:gradFill>
            <a:gsLst>
              <a:gs pos="0">
                <a:srgbClr val="F59E0B"/>
              </a:gs>
              <a:gs pos="100000">
                <a:srgbClr val="3B82F6"/>
              </a:gs>
            </a:gsLst>
            <a:lin ang="0" scaled="1"/>
          </a:gradFill>
          <a:ln/>
        </p:spPr>
        <p:txBody>
          <a:bodyPr/>
          <a:p/>
        </p:txBody>
      </p:sp>
    </p:spTree>
  </p:cSld>
</p:sld>
</file>

<file path=ppt/slides/slide2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53" name="" descr="&lt;Slide&#10;  notes={`&#10;    我觉得这里最关键的，是用户真正卡住的不是缺摘要。我自己读 RFC 和规范的时候，真正的问题是这五个——不知道先读哪、概念有依赖、关键约束被摘要丢掉、聊天回答对不上原文、还有读过的没沉淀。&#10;`}&#10;&gt;&#10;  &lt;Box style={{ width: '100%', height: '100%', paddingTop: 0 }}&gt;&#10;    {/* A 区 标题块 */}&#10;    &lt;Box style={{ height: 110, justifyContent: 'center', paddingLeft: 72, paddingRight: 72, borderBottom: '2px solid #E2E8F0' }}&gt;&#10;      &lt;Box style={{ flexDirection: 'row', alignItems: 'center', justifyContent: 'space-between' }}&gt;&#10;        &lt;Text style={{ fontSize: 32, fontWeight: 'bold', color: '#1E3A5F' }}&gt;不是缺摘要，而是五个具体卡点&lt;/Text&gt;&#10;        &lt;Text style={{ fontSize: 14, color: '#64748B' }}&gt;01 发现的问题 · 02 用户是谁&lt;/Text&gt;&#10;      &lt;/Box&gt;&#10;    &lt;/Box&gt;&#10;&#10;    {/* B 区 内容 */}&#10;    &lt;Box style={{ height: 550, flexDirection: 'row', paddingLeft: 72, paddingRight: 72, paddingTop: 28, gap: 28 }}&gt;&#10;      {/* 左列：5 个问题 */}&#10;      &lt;Box style={{ flex: 1.15, flexDirection: 'column', gap: 14 }}&gt;&#10;        &lt;Text style={{ fontSize: 18, fontWeight: 'bold', color: '#3B82F6', marginBottom: 4 }}&gt;真实困难&lt;/Text&gt;&#10;        {[&#10;          { icon: 'compass', t: '不知道文档解决什么问题、哪些章节该先读' },&#10;          { icon: 'link', t: '概念之间有依赖，按原文顺序读未必适合当前基础' },&#10;          { icon: 'file-exclamation', t: '规范关键词、约束、例外、版本边界被摘要丢失' },&#10;          { icon: 'comment-dots', t: '通用聊天可能脱离原文，无法核对出处' },&#10;          { icon: 'book-open', t: '读过的理解没有沉淀，下次重新梳理' },&#10;        ].map((item, idx) =&gt; (&#10;          &lt;Box key={idx} style={{ flexDirection: 'row', alignItems: 'center', gap: 14, background: '#F8FAFC', borderRadius: 10, padding: '14px 18px' }}&gt;&#10;            &lt;FAIcon name={item.icon} style={{ fill: '#F59E0B', width: 22, height: 22 }} /&gt;&#10;            &lt;Text style={{ fontSize: 16, color: '#1E3A5F', lineHeight: 1.5, flex: 1 }}&gt;{item.t}&lt;/Text&gt;&#10;          &lt;/Box&gt;&#10;        ))}&#10;      &lt;/Box&gt;&#10;&#10;      {/* 右列：用户是谁 + 场景 + 不做 */}&#10;      &lt;Box style={{ flex: 1, flexDirection: 'column', gap: 16 }}&gt;&#10;        &lt;Box style={{ background: '#1E3A5F', borderRadius: 12, padding: '20px 22px' }}&gt;&#10;          &lt;Text style={{ fontSize: 18, fontWeight: 'bold', color: '#FFFFFF' }}&gt;用户是谁&lt;/Text&gt;&#10;          &lt;Text style={{ fontSize: 16, color: '#CBD5E1', lineHeight: 1.5, marginTop: 8 }}&gt;&#10;            需要进入陌生技术领域的&lt;span style={{ color: '#F59E0B', fontWeight: 'bold' }}&gt;软件开发者&lt;/span&gt;&#10;          &lt;/Text&gt;&#10;        &lt;/Box&gt;&#10;        &lt;Box style={{ display: 'flex', flexDirection: 'column', gap: 8 }}&gt;&#10;          &lt;Text style={{ fontSize: 15, fontWeight: 'bold', color: '#3B82F6' }}&gt;三个典型场景&lt;/Text&gt;&#10;          &lt;Text style={{ fontSize: 15, color: '#334155', lineHeight: 1.6 }}&gt;· 建立整体认知 —— 先懂背景与章节关系&lt;/Text&gt;&#10;          &lt;Text style={{ fontSize: 15, color: '#334155', lineHeight: 1.6 }}&gt;· 理解关键机制 —— 握手、状态机、一致性&lt;/Text&gt;&#10;          &lt;Text style={{ fontSize: 15, color: '#334155', lineHeight: 1.6 }}&gt;· 为实现或评审做准备 —— 提取约束与风险&lt;/Text&gt;&#10;        &lt;/Box&gt;&#10;        &lt;Box style={{ background: '#FFF7ED', borderRadius: 10, padding: '14px 18px', border: '1px solid #FDE68A' }}&gt;&#10;          &lt;Text style={{ fontSize: 14, fontWeight: 'bold', color: '#B45309' }}&gt;明确不做&lt;/Text&gt;&#10;          &lt;Text style={{ fontSize: 14, color: '#92400E', lineHeight: 1.6, marginTop: 4 }}&gt;&#10;            论文研究 · 通用课程学习 · 客服知识库 · 企业文档管理&#10;          &lt;/Text&gt;&#10;        &lt;/Box&gt;&#10;      &lt;/Box&gt;&#10;    &lt;/Box&gt;&#10;&#10;    {/* C 区 页脚 */}&#10;    &lt;Box style={{ position: 'absolute', left: 72, right: 72, bottom: 20, flexDirection: 'row', justifyContent: 'space-between' }}&gt;&#10;      &lt;Text style={{ fontSize: 14, color: '#94A3B8' }}&gt;Lumen · 技术文档精读助手&lt;/Text&gt;&#10;      &lt;Text style={{ fontSize: 14, color: '#94A3B8' }}&gt;02 / 10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"/>
          <p:cNvSpPr/>
          <p:nvPr/>
        </p:nvSpPr>
        <p:spPr>
          <a:xfrm rot="0" flipH="0" flipV="0">
            <a:off x="0" y="0"/>
            <a:ext cx="12192000" cy="1047750"/>
          </a:xfrm>
          <a:custGeom>
            <a:pathLst>
              <a:path w="1280" h="110">
                <a:moveTo>
                  <a:pt x="0" y="108"/>
                </a:moveTo>
                <a:lnTo>
                  <a:pt x="1280" y="108"/>
                </a:lnTo>
                <a:lnTo>
                  <a:pt x="1280" y="110"/>
                </a:lnTo>
                <a:lnTo>
                  <a:pt x="0" y="110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685800" y="333375"/>
            <a:ext cx="42672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1E3A5F"/>
                </a:solidFill>
                <a:latin typeface="Microsoft YaHei"/>
                <a:ea typeface="Microsoft YaHei"/>
              </a:rPr>
              <a:t>不是缺摘要，而是五个具体卡点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9810750" y="438150"/>
            <a:ext cx="1695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01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发现的问题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· 02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用户是谁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685800" y="1314450"/>
            <a:ext cx="56483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3B82F6"/>
                </a:solidFill>
                <a:latin typeface="Microsoft YaHei"/>
                <a:ea typeface="Microsoft YaHei"/>
              </a:rPr>
              <a:t>真实困难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685800" y="1695450"/>
            <a:ext cx="5648325" cy="542925"/>
          </a:xfrm>
          <a:prstGeom prst="roundRect">
            <a:avLst>
              <a:gd name="adj" fmla="val 17544"/>
            </a:avLst>
          </a:prstGeom>
          <a:solidFill>
            <a:srgbClr val="F8FAFC"/>
          </a:solidFill>
          <a:ln/>
        </p:spPr>
        <p:txBody>
          <a:bodyPr/>
          <a:p/>
        </p:txBody>
      </p:sp>
      <p:pic>
        <p:nvPicPr>
          <p:cNvPr id="5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57250" y="1866900"/>
            <a:ext cx="209550" cy="209550"/>
          </a:xfrm>
          <a:prstGeom prst="rect">
            <a:avLst/>
          </a:prstGeom>
          <a:ln/>
        </p:spPr>
      </p:pic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1200150" y="1828800"/>
            <a:ext cx="49625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E3A5F"/>
                </a:solidFill>
                <a:latin typeface="Microsoft YaHei"/>
                <a:ea typeface="Microsoft YaHei"/>
              </a:rPr>
              <a:t>不知道文档解决什么问题、哪些章节该先读</a:t>
            </a:r>
            <a:endParaRPr/>
          </a:p>
        </p:txBody>
      </p:sp>
      <p:sp>
        <p:nvSpPr>
          <p:cNvPr id="61" name=""/>
          <p:cNvSpPr/>
          <p:nvPr/>
        </p:nvSpPr>
        <p:spPr>
          <a:xfrm rot="0" flipH="0" flipV="0">
            <a:off x="685800" y="2371725"/>
            <a:ext cx="5648325" cy="542925"/>
          </a:xfrm>
          <a:prstGeom prst="roundRect">
            <a:avLst>
              <a:gd name="adj" fmla="val 17544"/>
            </a:avLst>
          </a:prstGeom>
          <a:solidFill>
            <a:srgbClr val="F8FAFC"/>
          </a:solidFill>
          <a:ln/>
        </p:spPr>
        <p:txBody>
          <a:bodyPr/>
          <a:p/>
        </p:txBody>
      </p:sp>
      <p:pic>
        <p:nvPicPr>
          <p:cNvPr id="6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57250" y="2543175"/>
            <a:ext cx="209550" cy="209550"/>
          </a:xfrm>
          <a:prstGeom prst="rect">
            <a:avLst/>
          </a:prstGeom>
          <a:ln/>
        </p:spPr>
      </p:pic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1200150" y="2505075"/>
            <a:ext cx="49625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E3A5F"/>
                </a:solidFill>
                <a:latin typeface="Microsoft YaHei"/>
                <a:ea typeface="Microsoft YaHei"/>
              </a:rPr>
              <a:t>概念之间有依赖，按原文顺序读未必适合当前基础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685800" y="3048000"/>
            <a:ext cx="5648325" cy="542925"/>
          </a:xfrm>
          <a:prstGeom prst="roundRect">
            <a:avLst>
              <a:gd name="adj" fmla="val 17544"/>
            </a:avLst>
          </a:prstGeom>
          <a:solidFill>
            <a:srgbClr val="F8FAFC"/>
          </a:solidFill>
          <a:ln/>
        </p:spPr>
        <p:txBody>
          <a:bodyPr/>
          <a:p/>
        </p:txBody>
      </p:sp>
      <p:pic>
        <p:nvPicPr>
          <p:cNvPr id="6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57250" y="3219450"/>
            <a:ext cx="209550" cy="209550"/>
          </a:xfrm>
          <a:prstGeom prst="rect">
            <a:avLst/>
          </a:prstGeom>
          <a:ln/>
        </p:spPr>
      </p:pic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1200150" y="3181350"/>
            <a:ext cx="49625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E3A5F"/>
                </a:solidFill>
                <a:latin typeface="Microsoft YaHei"/>
                <a:ea typeface="Microsoft YaHei"/>
              </a:rPr>
              <a:t>规范关键词、约束、例外、版本边界被摘要丢失</a:t>
            </a:r>
            <a:endParaRPr/>
          </a:p>
        </p:txBody>
      </p:sp>
      <p:sp>
        <p:nvSpPr>
          <p:cNvPr id="67" name=""/>
          <p:cNvSpPr/>
          <p:nvPr/>
        </p:nvSpPr>
        <p:spPr>
          <a:xfrm rot="0" flipH="0" flipV="0">
            <a:off x="685800" y="3724275"/>
            <a:ext cx="5648325" cy="542925"/>
          </a:xfrm>
          <a:prstGeom prst="roundRect">
            <a:avLst>
              <a:gd name="adj" fmla="val 17544"/>
            </a:avLst>
          </a:prstGeom>
          <a:solidFill>
            <a:srgbClr val="F8FAFC"/>
          </a:solidFill>
          <a:ln/>
        </p:spPr>
        <p:txBody>
          <a:bodyPr/>
          <a:p/>
        </p:txBody>
      </p:sp>
      <p:pic>
        <p:nvPicPr>
          <p:cNvPr id="6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57250" y="3895725"/>
            <a:ext cx="209550" cy="209550"/>
          </a:xfrm>
          <a:prstGeom prst="rect">
            <a:avLst/>
          </a:prstGeom>
          <a:ln/>
        </p:spPr>
      </p:pic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1200150" y="3857625"/>
            <a:ext cx="49625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E3A5F"/>
                </a:solidFill>
                <a:latin typeface="Microsoft YaHei"/>
                <a:ea typeface="Microsoft YaHei"/>
              </a:rPr>
              <a:t>通用聊天可能脱离原文，无法核对出处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685800" y="4400550"/>
            <a:ext cx="5648325" cy="542925"/>
          </a:xfrm>
          <a:prstGeom prst="roundRect">
            <a:avLst>
              <a:gd name="adj" fmla="val 17544"/>
            </a:avLst>
          </a:prstGeom>
          <a:solidFill>
            <a:srgbClr val="F8FAFC"/>
          </a:solidFill>
          <a:ln/>
        </p:spPr>
        <p:txBody>
          <a:bodyPr/>
          <a:p/>
        </p:txBody>
      </p:sp>
      <p:pic>
        <p:nvPicPr>
          <p:cNvPr id="7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57250" y="4572000"/>
            <a:ext cx="209550" cy="209550"/>
          </a:xfrm>
          <a:prstGeom prst="rect">
            <a:avLst/>
          </a:prstGeom>
          <a:ln/>
        </p:spPr>
      </p:pic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1200150" y="4533900"/>
            <a:ext cx="49625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E3A5F"/>
                </a:solidFill>
                <a:latin typeface="Microsoft YaHei"/>
                <a:ea typeface="Microsoft YaHei"/>
              </a:rPr>
              <a:t>读过的理解没有沉淀，下次重新梳理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6600825" y="1314450"/>
            <a:ext cx="4905375" cy="942975"/>
          </a:xfrm>
          <a:prstGeom prst="roundRect">
            <a:avLst>
              <a:gd name="adj" fmla="val 12121"/>
            </a:avLst>
          </a:prstGeom>
          <a:solidFill>
            <a:srgbClr val="1E3A5F"/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6810375" y="1504950"/>
            <a:ext cx="44862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用户是谁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6810375" y="1790700"/>
            <a:ext cx="448627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CBD5E1"/>
                </a:solidFill>
                <a:latin typeface="Microsoft YaHei"/>
                <a:ea typeface="Microsoft YaHei"/>
              </a:rPr>
              <a:t>需要进入陌生技术领域的</a:t>
            </a:r>
            <a:r>
              <a:rPr lang="zh-CN" sz="1200" b="1">
                <a:solidFill>
                  <a:srgbClr val="F59E0B"/>
                </a:solidFill>
                <a:latin typeface="Microsoft YaHei"/>
                <a:ea typeface="Microsoft YaHei"/>
              </a:rPr>
              <a:t>软件开发者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6600825" y="2409825"/>
            <a:ext cx="4905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3B82F6"/>
                </a:solidFill>
                <a:latin typeface="Microsoft YaHei"/>
                <a:ea typeface="Microsoft YaHei"/>
              </a:rPr>
              <a:t>三个典型场景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6600825" y="2657475"/>
            <a:ext cx="490537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>· 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建立整体认知</a:t>
            </a: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> —— 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先懂背景与章节关系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6600825" y="3009900"/>
            <a:ext cx="490537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>· 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理解关键机制</a:t>
            </a: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> —— 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握手、状态机、一致性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6600825" y="3362325"/>
            <a:ext cx="490537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>· 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为实现或评审做准备</a:t>
            </a:r>
            <a:r>
              <a:rPr lang="en-US" sz="1125">
                <a:solidFill>
                  <a:srgbClr val="334155"/>
                </a:solidFill>
                <a:latin typeface="Microsoft YaHei"/>
                <a:ea typeface="Microsoft YaHei"/>
              </a:rPr>
              <a:t> —— </a:t>
            </a:r>
            <a:r>
              <a:rPr lang="zh-CN" sz="1125">
                <a:solidFill>
                  <a:srgbClr val="334155"/>
                </a:solidFill>
                <a:latin typeface="Microsoft YaHei"/>
                <a:ea typeface="Microsoft YaHei"/>
              </a:rPr>
              <a:t>提取约束与风险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6600825" y="3790950"/>
            <a:ext cx="4905375" cy="723900"/>
          </a:xfrm>
          <a:prstGeom prst="roundRect">
            <a:avLst>
              <a:gd name="adj" fmla="val 13158"/>
            </a:avLst>
          </a:prstGeom>
          <a:solidFill>
            <a:srgbClr val="FFF7ED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6772275" y="3924300"/>
            <a:ext cx="4562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B45309"/>
                </a:solidFill>
                <a:latin typeface="Microsoft YaHei"/>
                <a:ea typeface="Microsoft YaHei"/>
              </a:rPr>
              <a:t>明确不做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6772275" y="4124325"/>
            <a:ext cx="4562475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92400E"/>
                </a:solidFill>
                <a:latin typeface="Microsoft YaHei"/>
                <a:ea typeface="Microsoft YaHei"/>
              </a:rPr>
              <a:t>论文研究</a:t>
            </a:r>
            <a:r>
              <a:rPr lang="en-US" sz="1050">
                <a:solidFill>
                  <a:srgbClr val="92400E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92400E"/>
                </a:solidFill>
                <a:latin typeface="Microsoft YaHei"/>
                <a:ea typeface="Microsoft YaHei"/>
              </a:rPr>
              <a:t>通用课程学习</a:t>
            </a:r>
            <a:r>
              <a:rPr lang="en-US" sz="1050">
                <a:solidFill>
                  <a:srgbClr val="92400E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92400E"/>
                </a:solidFill>
                <a:latin typeface="Microsoft YaHei"/>
                <a:ea typeface="Microsoft YaHei"/>
              </a:rPr>
              <a:t>客服知识库</a:t>
            </a:r>
            <a:r>
              <a:rPr lang="en-US" sz="1050">
                <a:solidFill>
                  <a:srgbClr val="92400E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92400E"/>
                </a:solidFill>
                <a:latin typeface="Microsoft YaHei"/>
                <a:ea typeface="Microsoft YaHei"/>
              </a:rPr>
              <a:t>企业文档管理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685800" y="650557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Lumen ·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技术文档精读助手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11096625" y="65055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02 / 10</a:t>
            </a:r>
            <a:endParaRPr/>
          </a:p>
        </p:txBody>
      </p:sp>
    </p:spTree>
  </p:cSld>
</p:sld>
</file>

<file path=ppt/slides/slide3.xml><?xml version="1.0" encoding="utf-8"?>
<p:sld xmlns:a16="http://schemas.microsoft.com/office/drawing/2014/main" xmlns:a="http://schemas.openxmlformats.org/drawingml/2006/main" xmlns:p="http://schemas.openxmlformats.org/presentationml/2006/main" xmlns:mc="http://schemas.openxmlformats.org/markup-compatibility/2006" mc:Ignorable="a16">
  <p:cSld>
    <p:spTree>
      <p:nvGrpSpPr>
        <p:cNvPr id="85" name="" descr="&lt;Slide&#10;  notes={`&#10;    我调研了五个方向，它们都解决&quot;问文档任何问题&quot;。但 Lumen 的定位不是回答，而是按你的基础决定怎么读。这个差异让产品更聚焦，也不至于跟成熟问答产品正面撞车。&#10;`}&#10;&gt;&#10;  &lt;Box style={{ width: '100%', height: '100%', paddingTop: 0 }}&gt;&#10;    {/* A 区 标题块 */}&#10;    &lt;Box style={{ height: 110, justifyContent: 'center', paddingLeft: 72, paddingRight: 72, borderBottom: '2px solid #E2E8F0' }}&gt;&#10;      &lt;Box style={{ flexDirection: 'row', alignItems: 'center', justifyContent: 'space-between' }}&gt;&#10;        &lt;Text style={{ fontSize: 32, fontWeight: 'bold', color: '#1E3A5F' }}&gt;它们解决「提问」，Lumen 解决「怎么读」&lt;/Text&gt;&#10;        &lt;Text style={{ fontSize: 14, color: '#64748B' }}&gt;03 为什么值得解决&lt;/Text&gt;&#10;      &lt;/Box&gt;&#10;    &lt;/Box&gt;&#10;&#10;    {/* B 区 非对称双栏 60:40 */}&#10;    &lt;Box style={{ height: 550, flexDirection: 'row', paddingLeft: 72, paddingRight: 72, paddingTop: 24, gap: 24 }}&gt;&#10;      {/* 左 60% 竞品观察 */}&#10;      &lt;Box style={{ flex: 1.5, flexDirection: 'column', gap: 12 }}&gt;&#10;        &lt;Text style={{ fontSize: 18, fontWeight: 'bold', color: '#3B82F6' }}&gt;现有产品观察（强项 → 对本项目启示）&lt;/Text&gt;&#10;        &lt;Table&#10;          style={{ width: '100%', flex: 1 }}&#10;          defaultTextStyle={{ fontSize: 14, textAlign: 'left', color: '#334155' }}&#10;          defaultCellStyle={{&#10;            border: {&#10;              left: { width: 1, color: '#E2E8F0' },&#10;              right: { width: 1, color: '#E2E8F0' },&#10;              top: { width: 1, color: '#E2E8F0' },&#10;              bottom: { width: 1, color: '#E2E8F0' },&#10;            },&#10;          }}&#10;          cells={[&#10;            [&#10;              { text: '产品', textStyle: { fontWeight: 'bold', color: '#FFFFFF' }, cellStyle: { background: { color: '#1E3A5F' } } },&#10;              { text: '强项', textStyle: { fontWeight: 'bold', color: '#FFFFFF' }, cellStyle: { background: { color: '#1E3A5F' } } },&#10;              { text: '对本项目的启示', textStyle: { fontWeight: 'bold', color: '#FFFFFF' }, cellStyle: { background: { color: '#1E3A5F' } } },&#10;            ],&#10;            ['NotebookLM', '基于来源进行分析转化', '来源约束是基础，不足以单独差异'],&#10;            ['Kapa', '非结构化知识准确问答', '开发者文档问答已成熟，不能只做聊天框'],&#10;            ['Mintlify', '面向团队与 Agent 文档平台', '文档生产/团队库不是首版范围'],&#10;            ['DocsBot', '业务知识问答与自动化', '客服/知识机器人侧重回答'],&#10;            ['DeepTutor', '分阶段交互、来源引用', '借鉴分阶段与引用，不复制平台'],&#10;          ]}&#10;        /&gt;&#10;        &lt;Text style={{ fontSize: 13, color: '#94A3B8', marginTop: 4 }}&gt;&#10;          观察来自 2026-09-01 可访问的公开首页与仓库说明，仅用于产品定位，非完整评测。&#10;        &lt;/Text&gt;&#10;      &lt;/Box&gt;&#10;&#10;      {/* 右 40% 定位空白 */}&#10;      &lt;Box style={{ flex: 1, flexDirection: 'column', gap: 14 }}&gt;&#10;        &lt;Box style={{ background: 'linear-gradient(135deg, #1E3A5F 0%, #3B82F6 100%)', borderRadius: 12, padding: '24px 24px', flex: 1, justifyContent: 'center' }}&gt;&#10;          &lt;Text style={{ fontSize: 15, fontWeight: 'bold', color: '#93C5FD', letterSpacing: 2 }}&gt;定位空白&lt;/Text&gt;&#10;          &lt;Text style={{ fontSize: 22, fontWeight: 'bold', color: '#FFFFFF', lineHeight: 1.4, marginTop: 12 }}&gt;&#10;            它们解决&lt;br /&gt;「问文档任何问题」&#10;          &lt;/Text&gt;&#10;          &lt;Box style={{ height: 2, background: '#F59E0B', width: '30%', marginVertical: 16 }} /&gt;&#10;          &lt;Text style={{ fontSize: 20, fontWeight: 'bold', color: '#F59E0B', lineHeight: 1.4 }}&gt;&#10;            Lumen 解决&lt;br /&gt;「按你的基础&lt;br /&gt;决定怎么读」&#10;          &lt;/Text&gt;&#10;        &lt;/Box&gt;&#10;        &lt;Box style={{ background: '#FFF7ED', borderRadius: 10, padding: '12px 16px', border: '1px solid #FDE68A' }}&gt;&#10;          &lt;Text style={{ fontSize: 13, color: '#92400E', lineHeight: 1.6 }}&gt;&#10;            &lt;span style={{ fontWeight: 'bold' }}&gt;诚实标注：&lt;/span&gt;痛点来自开发者工作流与竞品观察，未做真实用户访谈。&#10;          &lt;/Text&gt;&#10;        &lt;/Box&gt;&#10;      &lt;/Box&gt;&#10;    &lt;/Box&gt;&#10;&#10;    {/* C 区 页脚 */}&#10;    &lt;Box style={{ position: 'absolute', left: 72, right: 72, bottom: 20, flexDirection: 'row', justifyContent: 'space-between' }}&gt;&#10;      &lt;Text style={{ fontSize: 14, color: '#94A3B8' }}&gt;Lumen · 技术文档精读助手&lt;/Text&gt;&#10;      &lt;Text style={{ fontSize: 14, color: '#94A3B8' }}&gt;03 / 10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"/>
          <p:cNvSpPr/>
          <p:nvPr/>
        </p:nvSpPr>
        <p:spPr>
          <a:xfrm rot="0" flipH="0" flipV="0">
            <a:off x="0" y="0"/>
            <a:ext cx="12192000" cy="1047750"/>
          </a:xfrm>
          <a:custGeom>
            <a:pathLst>
              <a:path w="1280" h="110">
                <a:moveTo>
                  <a:pt x="0" y="108"/>
                </a:moveTo>
                <a:lnTo>
                  <a:pt x="1280" y="108"/>
                </a:lnTo>
                <a:lnTo>
                  <a:pt x="1280" y="110"/>
                </a:lnTo>
                <a:lnTo>
                  <a:pt x="0" y="110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685800" y="333375"/>
            <a:ext cx="59626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1E3A5F"/>
                </a:solidFill>
                <a:latin typeface="Microsoft YaHei"/>
                <a:ea typeface="Microsoft YaHei"/>
              </a:rPr>
              <a:t>它们解决「提问」，</a:t>
            </a:r>
            <a:r>
              <a:rPr lang="en-US" sz="2400" b="1">
                <a:solidFill>
                  <a:srgbClr val="1E3A5F"/>
                </a:solidFill>
                <a:latin typeface="Microsoft YaHei"/>
                <a:ea typeface="Microsoft YaHei"/>
              </a:rPr>
              <a:t>Lumen </a:t>
            </a:r>
            <a:r>
              <a:rPr lang="zh-CN" sz="2400" b="1">
                <a:solidFill>
                  <a:srgbClr val="1E3A5F"/>
                </a:solidFill>
                <a:latin typeface="Microsoft YaHei"/>
                <a:ea typeface="Microsoft YaHei"/>
              </a:rPr>
              <a:t>解决「怎么读」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10382250" y="438150"/>
            <a:ext cx="1123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03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为什么值得解决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685800" y="1276350"/>
            <a:ext cx="63531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3B82F6"/>
                </a:solidFill>
                <a:latin typeface="Microsoft YaHei"/>
                <a:ea typeface="Microsoft YaHei"/>
              </a:rPr>
              <a:t>现有产品观察（强项</a:t>
            </a:r>
            <a:r>
              <a:rPr lang="en-US" sz="1350" b="1">
                <a:solidFill>
                  <a:srgbClr val="3B82F6"/>
                </a:solidFill>
                <a:latin typeface="Microsoft YaHei"/>
                <a:ea typeface="Microsoft YaHei"/>
              </a:rPr>
              <a:t> → </a:t>
            </a:r>
            <a:r>
              <a:rPr lang="zh-CN" sz="1350" b="1">
                <a:solidFill>
                  <a:srgbClr val="3B82F6"/>
                </a:solidFill>
                <a:latin typeface="Microsoft YaHei"/>
                <a:ea typeface="Microsoft YaHei"/>
              </a:rPr>
              <a:t>对本项目启示）</a:t>
            </a:r>
            <a:endParaRPr/>
          </a:p>
        </p:txBody>
      </p:sp>
      <p:graphicFrame>
        <p:nvGraphicFramePr>
          <p:cNvPr id="90" name=""/>
          <p:cNvGraphicFramePr/>
          <p:nvPr/>
        </p:nvGraphicFramePr>
        <p:xfrm rot="0" flipH="0" flipV="0">
          <a:off x="685800" y="1600200"/>
          <a:ext cx="6353175" cy="4381500"/>
        </p:xfrm>
        <a:graphic>
          <a:graphicData uri="http://schemas.openxmlformats.org/drawingml/2006/table">
            <a:tbl>
              <a:tblGrid>
                <a:gridCol w="1070411">
                  <a:extLst>
                    <a:ext uri="{9D8B030D-6E8A-4147-A177-3AD203B41FA5}">
                      <a16:colId val="1"/>
                    </a:ext>
                  </a:extLst>
                </a:gridCol>
                <a:gridCol w="2157547">
                  <a:extLst>
                    <a:ext uri="{9D8B030D-6E8A-4147-A177-3AD203B41FA5}">
                      <a16:colId val="2"/>
                    </a:ext>
                  </a:extLst>
                </a:gridCol>
                <a:gridCol w="3125217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7302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产品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强项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对本项目的启示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7302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NotebookLM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基于来源进行分析转化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来源约束是基础，不足以单独差异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7302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Kapa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非结构化知识准确问答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开发者文档问答已成熟，不能只做聊天框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7302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Mintlify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面向团队与 Agent 文档平台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文档生产/团队库不是首版范围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7302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DocsBot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业务知识问答与自动化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客服/知识机器人侧重回答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7302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DeepTutor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分阶段交互、来源引用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借鉴分阶段与引用，不复制平台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</a:tbl>
          </a:graphicData>
        </a:graphic>
      </p:graphicFrame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685800" y="6134100"/>
            <a:ext cx="6353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观察来自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 2026-09-01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可访问的公开首页与仓库说明，仅用于产品定位，非完整评测。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7267575" y="1276350"/>
            <a:ext cx="4238625" cy="4410075"/>
          </a:xfrm>
          <a:prstGeom prst="roundRect">
            <a:avLst>
              <a:gd name="adj" fmla="val 2697"/>
            </a:avLst>
          </a:prstGeom>
          <a:gradFill>
            <a:gsLst>
              <a:gs pos="0">
                <a:srgbClr val="1E3A5F"/>
              </a:gs>
              <a:gs pos="100000">
                <a:srgbClr val="3B82F6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7496175" y="2495550"/>
            <a:ext cx="3781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93C5FD"/>
                </a:solidFill>
                <a:latin typeface="Microsoft YaHei"/>
                <a:ea typeface="Microsoft YaHei"/>
              </a:rPr>
              <a:t>定位空白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7496175" y="2781300"/>
            <a:ext cx="3781425" cy="704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它们解决</a:t>
            </a:r>
            <a:endParaRPr/>
          </a:p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「问文档任何问题」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7496175" y="3486150"/>
            <a:ext cx="1133475" cy="1905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7496175" y="3505200"/>
            <a:ext cx="3781425" cy="962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500" b="1">
                <a:solidFill>
                  <a:srgbClr val="F59E0B"/>
                </a:solidFill>
                <a:latin typeface="Microsoft YaHei"/>
                <a:ea typeface="Microsoft YaHei"/>
              </a:rPr>
              <a:t>Lumen </a:t>
            </a:r>
            <a:r>
              <a:rPr lang="zh-CN" sz="1500" b="1">
                <a:solidFill>
                  <a:srgbClr val="F59E0B"/>
                </a:solidFill>
                <a:latin typeface="Microsoft YaHei"/>
                <a:ea typeface="Microsoft YaHei"/>
              </a:rPr>
              <a:t>解决</a:t>
            </a:r>
            <a:endParaRPr/>
          </a:p>
          <a:p>
            <a:pPr>
              <a:lnSpc>
                <a:spcPct val="140000"/>
              </a:lnSpc>
            </a:pPr>
            <a:r>
              <a:rPr lang="zh-CN" sz="1500" b="1">
                <a:solidFill>
                  <a:srgbClr val="F59E0B"/>
                </a:solidFill>
                <a:latin typeface="Microsoft YaHei"/>
                <a:ea typeface="Microsoft YaHei"/>
              </a:rPr>
              <a:t>「按你的基础</a:t>
            </a:r>
            <a:endParaRPr/>
          </a:p>
          <a:p>
            <a:pPr>
              <a:lnSpc>
                <a:spcPct val="140000"/>
              </a:lnSpc>
            </a:pPr>
            <a:r>
              <a:rPr lang="zh-CN" sz="1500" b="1">
                <a:solidFill>
                  <a:srgbClr val="F59E0B"/>
                </a:solidFill>
                <a:latin typeface="Microsoft YaHei"/>
                <a:ea typeface="Microsoft YaHei"/>
              </a:rPr>
              <a:t>决定怎么读」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7267575" y="5819775"/>
            <a:ext cx="4238625" cy="466725"/>
          </a:xfrm>
          <a:prstGeom prst="roundRect">
            <a:avLst>
              <a:gd name="adj" fmla="val 20408"/>
            </a:avLst>
          </a:prstGeom>
          <a:solidFill>
            <a:srgbClr val="FFF7ED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7419975" y="5934075"/>
            <a:ext cx="3933825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 b="1">
                <a:solidFill>
                  <a:srgbClr val="92400E"/>
                </a:solidFill>
                <a:latin typeface="Microsoft YaHei"/>
                <a:ea typeface="Microsoft YaHei"/>
              </a:rPr>
              <a:t>诚实标注：</a:t>
            </a:r>
            <a:r>
              <a:rPr lang="zh-CN" sz="975">
                <a:solidFill>
                  <a:srgbClr val="92400E"/>
                </a:solidFill>
                <a:latin typeface="Microsoft YaHei"/>
                <a:ea typeface="Microsoft YaHei"/>
              </a:rPr>
              <a:t>痛点来自开发者工作流与竞品观察，未做真实用户访谈。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685800" y="650557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Lumen ·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技术文档精读助手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11096625" y="65055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03 / 10</a:t>
            </a:r>
            <a:endParaRPr/>
          </a:p>
        </p:txBody>
      </p:sp>
    </p:spTree>
  </p:cSld>
</p:sld>
</file>

<file path=ppt/slides/slide4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01" name="" descr="&lt;Slide&#10;  notes={`&#10;    这就是 Lumen 的核心闭环。导入文档，设置阅读画像，生成文档地图和路线，然后按阶段精读，每个结论都能回来源，最后把确认过的内容沉淀成 Markdown 笔记。&#10;`}&#10;&gt;&#10;  &lt;Box style={{ width: '100%', height: '100%', paddingTop: 0 }}&gt;&#10;    {/* A 区 标题块 */}&#10;    &lt;Box style={{ height: 110, justifyContent: 'center', paddingLeft: 72, paddingRight: 72, borderBottom: '2px solid #E2E8F0' }}&gt;&#10;      &lt;Box style={{ flexDirection: 'row', alignItems: 'center', justifyContent: 'space-between' }}&gt;&#10;        &lt;Text style={{ fontSize: 32, fontWeight: 'bold', color: '#1E3A5F' }}&gt;一个核心闭环 + 四个差异化行为&lt;/Text&gt;&#10;        &lt;Text style={{ fontSize: 14, color: '#64748B' }}&gt;04 产品方案&lt;/Text&gt;&#10;      &lt;/Box&gt;&#10;    &lt;/Box&gt;&#10;&#10;    {/* B 区 左大图 + 右文字 */}&#10;    &lt;Box style={{ height: 550, flexDirection: 'row', paddingLeft: 72, paddingRight: 72, paddingTop: 24, gap: 24 }}&gt;&#10;      {/* 左 55% 核心闭环 SVG */}&#10;      &lt;Box style={{ flex: 1.2, flexDirection: 'column', gap: 10 }}&gt;&#10;        &lt;Text style={{ fontSize: 18, fontWeight: 'bold', color: '#3B82F6' }}&gt;核心闭环&lt;/Text&gt;&#10;        &lt;Box style={{ flex: 1, background: '#F8FAFC', borderRadius: 14, padding: 20, justifyContent: 'center' }}&gt;&#10;          &lt;svg width={470} height={300} viewBox='0 0 470 300'&gt;&#10;            {/* 横向流程节点 */}&#10;            {[&#10;              { x: 10, label: '导入文档', icon: 'upload' },&#10;              { x: 96, label: '阅读画像', icon: 'user' },&#10;              { x: 182, label: '文档地图\n与路线', icon: 'map' },&#10;              { x: 268, label: '阶段精读', icon: 'book-open' },&#10;              { x: 354, label: '引用定位', icon: 'quote-left' },&#10;            ].map((n, i) =&gt; (&#10;              &lt;g key={i}&gt;&#10;                &lt;rect x={n.x} y={80} width={76} height={90} rx={12} fill={i === 2 ? '#1E3A5F' : '#3B82F6'} /&gt;&#10;                &lt;text x={n.x + 38} y={118} textAnchor='middle' fill='#fff' fontSize={13} fontWeight='bold'&gt;{n.label.split('\n')[0]}&lt;/text&gt;&#10;                {n.label.split('\n')[1] ? &lt;text x={n.x + 38} y={140} textAnchor='middle' fill='#DBEAFE' fontSize={13}&gt;{n.label.split('\n')[1]}&lt;/text&gt; : null}&#10;              &lt;/g&gt;&#10;            ))}&#10;            {/* 箭头 */}&#10;            {[86, 172, 258, 344].map((ax, i) =&gt; (&#10;              &lt;g key={i}&gt;&#10;                &lt;line x1={ax} y1={125} x2={ax + 18} y2={125} stroke='#94A3B8' strokeWidth={2} /&gt;&#10;                &lt;polygon points={`${ax + 20},125 ${ax + 11},120 ${ax + 11},130`} fill='#94A3B8' /&gt;&#10;              &lt;/g&gt;&#10;            ))}&#10;            {/* 第二行 笔记与导出 */}&#10;            &lt;rect x={268} y={200} width={76} height={70} rx={12} fill='#F59E0B' /&gt;&#10;            &lt;text x={306} y={232} textAnchor='middle' fill='#fff' fontSize={13} fontWeight='bold'&gt;确认式&lt;br /&gt;笔记&lt;/text&gt;&#10;            &lt;rect x={354} y={200} width={76} height={70} rx={12} fill='#1E3A5F' /&gt;&#10;            &lt;text x={392} y={232} textAnchor='middle' fill='#fff' fontSize={13} fontWeight='bold'&gt;Markdown&lt;br /&gt;导出&lt;/text&gt;&#10;            &lt;line x1={344} y1={190} x2={326} y2={225} stroke='#F59E0B' strokeWidth={2} /&gt;&#10;            &lt;polygon points='322,232 330,226 334,236' fill='#F59E0B' /&gt;&#10;            &lt;line x1={344} y1={190} x2={386} y2={225} stroke='#1E3A5F' strokeWidth={2} /&gt;&#10;            &lt;polygon points='390,230 386,220 379,228' fill='#1E3A5F' /&gt;&#10;            {/* 底部循环 */}&#10;            &lt;path d='M 92 235 Q 180 290 300 238' fill='none' stroke='#94A3B8' strokeWidth={1.5} strokeDasharray='4 4' /&gt;&#10;            &lt;text x={170} y={288} textAnchor='middle' fill='#94A3B8' fontSize={12}&gt;编辑并确认后进入下一阶段&lt;/text&gt;&#10;          &lt;/svg&gt;&#10;        &lt;/Box&gt;&#10;      &lt;/Box&gt;&#10;&#10;      {/* 右 45% 四差异化 + 边界 */}&#10;      &lt;Box style={{ flex: 0.9, flexDirection: 'column', gap: 12 }}&gt;&#10;        &lt;Text style={{ fontSize: 18, fontWeight: 'bold', color: '#3B82F6' }}&gt;四个差异化行为&lt;/Text&gt;&#10;        {[&#10;          { icon: 'sliders-h', t: '阅读适配', d: '由目标和熟悉程度决定路线，不机械按目录总结' },&#10;          { icon: 'cogs', t: '机制拆解', d: '突出概念依赖、数据流、约束、例外与落地含义' },&#10;          { icon: 'quote-right', t: '可信引用', d: '所有原文事实可定位，证据不足时明确说明' },&#10;          { icon: 'edit', t: '确认式沉淀', d: 'AI 只提草稿，用户确认后才成为成果' },&#10;        ].map((item, idx) =&gt; (&#10;          &lt;Box key={idx} style={{ flexDirection: 'row', alignItems: 'center', gap: 12, background: '#F8FAFC', borderRadius: 10, padding: '12px 14px' }}&gt;&#10;            &lt;Box style={{ width: 38, height: 38, borderRadius: 10, background: '#DBEAFE', justifyContent: 'center', alignItems: 'center' }}&gt;&#10;              &lt;FAIcon name={item.icon} style={{ fill: '#3B82F6', width: 20, height: 20 }} /&gt;&#10;            &lt;/Box&gt;&#10;            &lt;Box style={{ flex: 1 }}&gt;&#10;              &lt;Text style={{ fontSize: 15, fontWeight: 'bold', color: '#1E3A5F' }}&gt;{item.t}&lt;/Text&gt;&#10;              &lt;Text style={{ fontSize: 13, color: '#64748B', lineHeight: 1.4 }}&gt;{item.d}&lt;/Text&gt;&#10;            &lt;/Box&gt;&#10;          &lt;/Box&gt;&#10;        ))}&#10;        &lt;Box style={{ background: '#FFF7ED', borderRadius: 10, padding: '12px 14px', border: '1px solid #FDE68A', marginTop: 2 }}&gt;&#10;          &lt;Text style={{ fontSize: 14, fontWeight: 'bold', color: '#B45309' }}&gt;首版边界（诚实）&lt;/Text&gt;&#10;          &lt;Text style={{ fontSize: 13, color: '#92400E', lineHeight: 1.6, marginTop: 4 }}&gt;&#10;            无 OCR · 无图表理解 · 单文档 · 匿名临时会话 · 不主动联网&#10;          &lt;/Text&gt;&#10;        &lt;/Box&gt;&#10;      &lt;/Box&gt;&#10;    &lt;/Box&gt;&#10;&#10;    {/* C 区 页脚 */}&#10;    &lt;Box style={{ position: 'absolute', left: 72, right: 72, bottom: 20, flexDirection: 'row', justifyContent: 'space-between' }}&gt;&#10;      &lt;Text style={{ fontSize: 14, color: '#94A3B8' }}&gt;Lumen · 技术文档精读助手&lt;/Text&gt;&#10;      &lt;Text style={{ fontSize: 14, color: '#94A3B8' }}&gt;04 / 10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"/>
          <p:cNvSpPr/>
          <p:nvPr/>
        </p:nvSpPr>
        <p:spPr>
          <a:xfrm rot="0" flipH="0" flipV="0">
            <a:off x="0" y="0"/>
            <a:ext cx="12192000" cy="1047750"/>
          </a:xfrm>
          <a:custGeom>
            <a:pathLst>
              <a:path w="1280" h="110">
                <a:moveTo>
                  <a:pt x="0" y="108"/>
                </a:moveTo>
                <a:lnTo>
                  <a:pt x="1280" y="108"/>
                </a:lnTo>
                <a:lnTo>
                  <a:pt x="1280" y="110"/>
                </a:lnTo>
                <a:lnTo>
                  <a:pt x="0" y="110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685800" y="333375"/>
            <a:ext cx="431482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1E3A5F"/>
                </a:solidFill>
                <a:latin typeface="Microsoft YaHei"/>
                <a:ea typeface="Microsoft YaHei"/>
              </a:rPr>
              <a:t>一个核心闭环</a:t>
            </a:r>
            <a:r>
              <a:rPr lang="en-US" sz="2400" b="1">
                <a:solidFill>
                  <a:srgbClr val="1E3A5F"/>
                </a:solidFill>
                <a:latin typeface="Microsoft YaHei"/>
                <a:ea typeface="Microsoft YaHei"/>
              </a:rPr>
              <a:t> + </a:t>
            </a:r>
            <a:r>
              <a:rPr lang="zh-CN" sz="2400" b="1">
                <a:solidFill>
                  <a:srgbClr val="1E3A5F"/>
                </a:solidFill>
                <a:latin typeface="Microsoft YaHei"/>
                <a:ea typeface="Microsoft YaHei"/>
              </a:rPr>
              <a:t>四个差异化行为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10782300" y="438150"/>
            <a:ext cx="72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04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产品方案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685800" y="1276350"/>
            <a:ext cx="60483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3B82F6"/>
                </a:solidFill>
                <a:latin typeface="Microsoft YaHei"/>
                <a:ea typeface="Microsoft YaHei"/>
              </a:rPr>
              <a:t>核心闭环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685800" y="1581150"/>
            <a:ext cx="6048375" cy="4705350"/>
          </a:xfrm>
          <a:prstGeom prst="roundRect">
            <a:avLst>
              <a:gd name="adj" fmla="val 2834"/>
            </a:avLst>
          </a:prstGeom>
          <a:solidFill>
            <a:srgbClr val="F8FAFC"/>
          </a:solidFill>
          <a:ln/>
        </p:spPr>
        <p:txBody>
          <a:bodyPr/>
          <a:p/>
        </p:txBody>
      </p:sp>
      <p:pic>
        <p:nvPicPr>
          <p:cNvPr id="10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76300" y="2505075"/>
            <a:ext cx="4476750" cy="2857500"/>
          </a:xfrm>
          <a:prstGeom prst="rect">
            <a:avLst/>
          </a:prstGeom>
          <a:ln/>
        </p:spPr>
      </p:pic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6962775" y="1276350"/>
            <a:ext cx="45434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3B82F6"/>
                </a:solidFill>
                <a:latin typeface="Microsoft YaHei"/>
                <a:ea typeface="Microsoft YaHei"/>
              </a:rPr>
              <a:t>四个差异化行为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6962775" y="1600200"/>
            <a:ext cx="4543425" cy="609600"/>
          </a:xfrm>
          <a:prstGeom prst="roundRect">
            <a:avLst>
              <a:gd name="adj" fmla="val 15625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10" name=""/>
          <p:cNvSpPr/>
          <p:nvPr/>
        </p:nvSpPr>
        <p:spPr>
          <a:xfrm rot="0" flipH="0" flipV="0">
            <a:off x="7096125" y="1724025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DBEAFE"/>
          </a:solidFill>
          <a:ln/>
        </p:spPr>
        <p:txBody>
          <a:bodyPr/>
          <a:p/>
        </p:txBody>
      </p:sp>
      <p:pic>
        <p:nvPicPr>
          <p:cNvPr id="11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181850" y="1809750"/>
            <a:ext cx="190500" cy="190500"/>
          </a:xfrm>
          <a:prstGeom prst="rect">
            <a:avLst/>
          </a:prstGeom>
          <a:ln/>
        </p:spPr>
      </p:pic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7572375" y="1714500"/>
            <a:ext cx="3800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3A5F"/>
                </a:solidFill>
                <a:latin typeface="Microsoft YaHei"/>
                <a:ea typeface="Microsoft YaHei"/>
              </a:rPr>
              <a:t>阅读适配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7572375" y="1885950"/>
            <a:ext cx="38004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由目标和熟悉程度决定路线，不机械按目录总结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6962775" y="2324100"/>
            <a:ext cx="4543425" cy="609600"/>
          </a:xfrm>
          <a:prstGeom prst="roundRect">
            <a:avLst>
              <a:gd name="adj" fmla="val 15625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15" name=""/>
          <p:cNvSpPr/>
          <p:nvPr/>
        </p:nvSpPr>
        <p:spPr>
          <a:xfrm rot="0" flipH="0" flipV="0">
            <a:off x="7096125" y="2447925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DBEAFE"/>
          </a:solidFill>
          <a:ln/>
        </p:spPr>
        <p:txBody>
          <a:bodyPr/>
          <a:p/>
        </p:txBody>
      </p:sp>
      <p:pic>
        <p:nvPicPr>
          <p:cNvPr id="11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181850" y="2533650"/>
            <a:ext cx="190500" cy="190500"/>
          </a:xfrm>
          <a:prstGeom prst="rect">
            <a:avLst/>
          </a:prstGeom>
          <a:ln/>
        </p:spPr>
      </p:pic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7572375" y="2438400"/>
            <a:ext cx="3800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3A5F"/>
                </a:solidFill>
                <a:latin typeface="Microsoft YaHei"/>
                <a:ea typeface="Microsoft YaHei"/>
              </a:rPr>
              <a:t>机制拆解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7572375" y="2609850"/>
            <a:ext cx="38004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突出概念依赖、数据流、约束、例外与落地含义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6962775" y="3048000"/>
            <a:ext cx="4543425" cy="609600"/>
          </a:xfrm>
          <a:prstGeom prst="roundRect">
            <a:avLst>
              <a:gd name="adj" fmla="val 15625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20" name=""/>
          <p:cNvSpPr/>
          <p:nvPr/>
        </p:nvSpPr>
        <p:spPr>
          <a:xfrm rot="0" flipH="0" flipV="0">
            <a:off x="7096125" y="3171825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DBEAFE"/>
          </a:solidFill>
          <a:ln/>
        </p:spPr>
        <p:txBody>
          <a:bodyPr/>
          <a:p/>
        </p:txBody>
      </p:sp>
      <p:pic>
        <p:nvPicPr>
          <p:cNvPr id="12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181850" y="3257550"/>
            <a:ext cx="190500" cy="190500"/>
          </a:xfrm>
          <a:prstGeom prst="rect">
            <a:avLst/>
          </a:prstGeom>
          <a:ln/>
        </p:spPr>
      </p:pic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7572375" y="3162300"/>
            <a:ext cx="3800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3A5F"/>
                </a:solidFill>
                <a:latin typeface="Microsoft YaHei"/>
                <a:ea typeface="Microsoft YaHei"/>
              </a:rPr>
              <a:t>可信引用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7572375" y="3333750"/>
            <a:ext cx="38004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所有原文事实可定位，证据不足时明确说明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6962775" y="3771900"/>
            <a:ext cx="4543425" cy="609600"/>
          </a:xfrm>
          <a:prstGeom prst="roundRect">
            <a:avLst>
              <a:gd name="adj" fmla="val 15625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25" name=""/>
          <p:cNvSpPr/>
          <p:nvPr/>
        </p:nvSpPr>
        <p:spPr>
          <a:xfrm rot="0" flipH="0" flipV="0">
            <a:off x="7096125" y="3895725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DBEAFE"/>
          </a:solidFill>
          <a:ln/>
        </p:spPr>
        <p:txBody>
          <a:bodyPr/>
          <a:p/>
        </p:txBody>
      </p:sp>
      <p:pic>
        <p:nvPicPr>
          <p:cNvPr id="12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181850" y="3981450"/>
            <a:ext cx="190500" cy="190500"/>
          </a:xfrm>
          <a:prstGeom prst="rect">
            <a:avLst/>
          </a:prstGeom>
          <a:ln/>
        </p:spPr>
      </p:pic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7572375" y="3886200"/>
            <a:ext cx="3800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3A5F"/>
                </a:solidFill>
                <a:latin typeface="Microsoft YaHei"/>
                <a:ea typeface="Microsoft YaHei"/>
              </a:rPr>
              <a:t>确认式沉淀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7572375" y="4057650"/>
            <a:ext cx="380047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AI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只提草稿，用户确认后才成为成果</a:t>
            </a:r>
            <a:endParaRPr/>
          </a:p>
        </p:txBody>
      </p:sp>
      <p:sp>
        <p:nvSpPr>
          <p:cNvPr id="129" name=""/>
          <p:cNvSpPr/>
          <p:nvPr/>
        </p:nvSpPr>
        <p:spPr>
          <a:xfrm rot="0" flipH="0" flipV="0">
            <a:off x="6962775" y="4514850"/>
            <a:ext cx="4543425" cy="666750"/>
          </a:xfrm>
          <a:prstGeom prst="roundRect">
            <a:avLst>
              <a:gd name="adj" fmla="val 14286"/>
            </a:avLst>
          </a:prstGeom>
          <a:solidFill>
            <a:srgbClr val="FFF7ED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7096125" y="4629150"/>
            <a:ext cx="4276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B45309"/>
                </a:solidFill>
                <a:latin typeface="Microsoft YaHei"/>
                <a:ea typeface="Microsoft YaHei"/>
              </a:rPr>
              <a:t>首版边界（诚实）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7096125" y="4829175"/>
            <a:ext cx="4276725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92400E"/>
                </a:solidFill>
                <a:latin typeface="Microsoft YaHei"/>
                <a:ea typeface="Microsoft YaHei"/>
              </a:rPr>
              <a:t>无</a:t>
            </a:r>
            <a:r>
              <a:rPr lang="en-US" sz="975">
                <a:solidFill>
                  <a:srgbClr val="92400E"/>
                </a:solidFill>
                <a:latin typeface="Microsoft YaHei"/>
                <a:ea typeface="Microsoft YaHei"/>
              </a:rPr>
              <a:t> OCR · </a:t>
            </a:r>
            <a:r>
              <a:rPr lang="zh-CN" sz="975">
                <a:solidFill>
                  <a:srgbClr val="92400E"/>
                </a:solidFill>
                <a:latin typeface="Microsoft YaHei"/>
                <a:ea typeface="Microsoft YaHei"/>
              </a:rPr>
              <a:t>无图表理解</a:t>
            </a:r>
            <a:r>
              <a:rPr lang="en-US" sz="975">
                <a:solidFill>
                  <a:srgbClr val="92400E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92400E"/>
                </a:solidFill>
                <a:latin typeface="Microsoft YaHei"/>
                <a:ea typeface="Microsoft YaHei"/>
              </a:rPr>
              <a:t>单文档</a:t>
            </a:r>
            <a:r>
              <a:rPr lang="en-US" sz="975">
                <a:solidFill>
                  <a:srgbClr val="92400E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92400E"/>
                </a:solidFill>
                <a:latin typeface="Microsoft YaHei"/>
                <a:ea typeface="Microsoft YaHei"/>
              </a:rPr>
              <a:t>匿名临时会话</a:t>
            </a:r>
            <a:r>
              <a:rPr lang="en-US" sz="975">
                <a:solidFill>
                  <a:srgbClr val="92400E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92400E"/>
                </a:solidFill>
                <a:latin typeface="Microsoft YaHei"/>
                <a:ea typeface="Microsoft YaHei"/>
              </a:rPr>
              <a:t>不主动联网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685800" y="650557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Lumen ·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技术文档精读助手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11096625" y="65055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04 / 10</a:t>
            </a:r>
            <a:endParaRPr/>
          </a:p>
        </p:txBody>
      </p:sp>
    </p:spTree>
  </p:cSld>
</p:sld>
</file>

<file path=ppt/slides/slide5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34" name="" descr="&lt;Slide&#10;  notes={`&#10;    这一页我想讲清楚 AI 的边界。AI 做四件事：文档地图、路线规划、阶段讲解、笔记草稿。但它坚决不做另外四件事——不检索、不决定顺序、不编造引用、不直接写定稿。尤其是引用，我用了一整套防伪机制。&#10;`}&#10;&gt;&#10;  &lt;Box style={{ width: '100%', height: '100%', paddingTop: 0 }}&gt;&#10;    {/* A 区 标题块 */}&#10;    &lt;Box style={{ height: 110, justifyContent: 'center', paddingLeft: 72, paddingRight: 72, borderBottom: '2px solid #E2E8F0' }}&gt;&#10;      &lt;Box style={{ flexDirection: 'row', alignItems: 'center', justifyContent: 'space-between' }}&gt;&#10;        &lt;Text style={{ fontSize: 32, fontWeight: 'bold', color: '#1E3A5F' }}&gt;AI 做四件事，也坚决不做四件事&lt;/Text&gt;&#10;        &lt;Text style={{ fontSize: 14, color: '#64748B' }}&gt;05 AI 在哪里、为什么用 AI&lt;/Text&gt;&#10;      &lt;/Box&gt;&#10;    &lt;/Box&gt;&#10;&#10;    {/* B 区 非对称双栏 */}&#10;    &lt;Box style={{ height: 550, flexDirection: 'row', paddingLeft: 72, paddingRight: 72, paddingTop: 24, gap: 22 }}&gt;&#10;      {/* 左 55% AI 做四件事 */}&#10;      &lt;Box style={{ flex: 1.15, flexDirection: 'column', gap: 12 }}&gt;&#10;        &lt;Text style={{ fontSize: 18, fontWeight: 'bold', color: '#16A34A' }}&gt;AI 做四件事&lt;/Text&gt;&#10;        {[&#10;          { icon: 'map', t: '文档地图', d: '结构化理解整体结构与术语' },&#10;          { icon: 'route', t: '路线规划', d: '3–6 个阶段、理由与前置关系' },&#10;          { icon: 'comment', t: '阶段讲解', d: '基于来源的机制与约束解释' },&#10;          { icon: 'file-lines', t: '笔记草稿', d: '结构化草稿，等待用户确认' },&#10;        ].map((item, idx) =&gt; (&#10;          &lt;Box key={idx} style={{ flexDirection: 'row', alignItems: 'center', gap: 12, background: '#F0FDF4', borderRadius: 10, padding: '12px 14px' }}&gt;&#10;            &lt;FAIcon name={item.icon} style={{ fill: '#16A34A', width: 20, height: 20 }} /&gt;&#10;            &lt;Box style={{ flex: 1 }}&gt;&#10;              &lt;Text style={{ fontSize: 15, fontWeight: 'bold', color: '#166534' }}&gt;{item.t}&lt;/Text&gt;&#10;              &lt;Text style={{ fontSize: 13, color: '#166534', lineHeight: 1.4 }}&gt;{item.d}&lt;/Text&gt;&#10;            &lt;/Box&gt;&#10;          &lt;/Box&gt;&#10;        ))}&#10;        &lt;Box style={{ background: '#F0FDF4', borderRadius: 10, padding: '12px 14px', border: '1px solid #BBF7D0' }}&gt;&#10;          &lt;Text style={{ fontSize: 13, color: '#166534', lineHeight: 1.6 }}&gt;&#10;            &lt;span style={{ fontWeight: 'bold' }}&gt;为什么必须用 AI：&lt;/span&gt;机制拆解、概念依赖需要真正的语言生成能力。&#10;          &lt;/Text&gt;&#10;        &lt;/Box&gt;&#10;      &lt;/Box&gt;&#10;&#10;      {/* 右 45% AI 不做四件事 + 防伪 */}&#10;      &lt;Box style={{ flex: 0.9, flexDirection: 'column', gap: 12 }}&gt;&#10;        &lt;Text style={{ fontSize: 18, fontWeight: 'bold', color: '#DC2626' }}&gt;AI 不做四件事&lt;/Text&gt;&#10;        {[&#10;          { icon: 'search', t: '不检索', d: '本地 MiniSearch 倒排索引' },&#10;          { icon: 'list-ol', t: '不决定顺序', d: '阅读画像驱动，非模型拍板' },&#10;          { icon: 'ban', t: '不编造引用', d: '服务端白名单分配引用 ID' },&#10;          { icon: 'check-double', t: '不直接产出笔记', d: '需用户编辑后确认' },&#10;        ].map((item, idx) =&gt; (&#10;          &lt;Box key={idx} style={{ flexDirection: 'row', alignItems: 'center', gap: 12, background: '#FEF2F2', borderRadius: 10, padding: '12px 14px' }}&gt;&#10;            &lt;FAIcon name={item.icon} style={{ fill: '#DC2626', width: 20, height: 20 }} /&gt;&#10;            &lt;Box style={{ flex: 1 }}&gt;&#10;              &lt;Text style={{ fontSize: 15, fontWeight: 'bold', color: '#991B1B' }}&gt;{item.t}&lt;/Text&gt;&#10;              &lt;Text style={{ fontSize: 13, color: '#991B1B', lineHeight: 1.4 }}&gt;{item.d}&lt;/Text&gt;&#10;            &lt;/Box&gt;&#10;          &lt;/Box&gt;&#10;        ))}&#10;        &lt;Box style={{ background: '#1E3A5F', borderRadius: 12, padding: '16px 18px', marginTop: 2 }}&gt;&#10;          &lt;Text style={{ fontSize: 15, fontWeight: 'bold', color: '#FFFFFF' }}&gt;引用防伪机制&lt;/Text&gt;&#10;          &lt;Text style={{ fontSize: 13, color: '#CBD5E1', lineHeight: 1.6, marginTop: 8 }}&gt;&#10;            服务端分配 &lt;span style={{ color: '#F59E0B', fontWeight: 'bold' }}&gt;S1&lt;/span&gt; 短 ID → 模型只能返回本轮允许列表 → 未知 ID 丢弃 → 无证据时显示「文档中未找到足够依据」&#10;          &lt;/Text&gt;&#10;          &lt;Text style={{ fontSize: 13, color: '#93C5FD', lineHeight: 1.5, marginTop: 8 }}&gt;&#10;            为什么不能只靠 AI：幻觉风险 → 所以引用白名单 + 确认式沉淀&#10;          &lt;/Text&gt;&#10;        &lt;/Box&gt;&#10;      &lt;/Box&gt;&#10;    &lt;/Box&gt;&#10;&#10;    {/* C 区 页脚 */}&#10;    &lt;Box style={{ position: 'absolute', left: 72, right: 72, bottom: 20, flexDirection: 'row', justifyContent: 'space-between' }}&gt;&#10;      &lt;Text style={{ fontSize: 14, color: '#94A3B8' }}&gt;Lumen · 技术文档精读助手&lt;/Text&gt;&#10;      &lt;Text style={{ fontSize: 14, color: '#94A3B8' }}&gt;05 / 10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"/>
          <p:cNvSpPr/>
          <p:nvPr/>
        </p:nvSpPr>
        <p:spPr>
          <a:xfrm rot="0" flipH="0" flipV="0">
            <a:off x="0" y="0"/>
            <a:ext cx="12192000" cy="1047750"/>
          </a:xfrm>
          <a:custGeom>
            <a:pathLst>
              <a:path w="1280" h="110">
                <a:moveTo>
                  <a:pt x="0" y="108"/>
                </a:moveTo>
                <a:lnTo>
                  <a:pt x="1280" y="108"/>
                </a:lnTo>
                <a:lnTo>
                  <a:pt x="1280" y="110"/>
                </a:lnTo>
                <a:lnTo>
                  <a:pt x="0" y="110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685800" y="333375"/>
            <a:ext cx="435292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1E3A5F"/>
                </a:solidFill>
                <a:latin typeface="Microsoft YaHei"/>
                <a:ea typeface="Microsoft YaHei"/>
              </a:rPr>
              <a:t>AI </a:t>
            </a:r>
            <a:r>
              <a:rPr lang="zh-CN" sz="2400" b="1">
                <a:solidFill>
                  <a:srgbClr val="1E3A5F"/>
                </a:solidFill>
                <a:latin typeface="Microsoft YaHei"/>
                <a:ea typeface="Microsoft YaHei"/>
              </a:rPr>
              <a:t>做四件事，也坚决不做四件事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9925050" y="438150"/>
            <a:ext cx="1581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05 AI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在哪里、为什么用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 AI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685800" y="1276350"/>
            <a:ext cx="59531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6A34A"/>
                </a:solidFill>
                <a:latin typeface="Microsoft YaHei"/>
                <a:ea typeface="Microsoft YaHei"/>
              </a:rPr>
              <a:t>AI </a:t>
            </a:r>
            <a:r>
              <a:rPr lang="zh-CN" sz="1350" b="1">
                <a:solidFill>
                  <a:srgbClr val="16A34A"/>
                </a:solidFill>
                <a:latin typeface="Microsoft YaHei"/>
                <a:ea typeface="Microsoft YaHei"/>
              </a:rPr>
              <a:t>做四件事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685800" y="1600200"/>
            <a:ext cx="5953125" cy="609600"/>
          </a:xfrm>
          <a:prstGeom prst="roundRect">
            <a:avLst>
              <a:gd name="adj" fmla="val 15625"/>
            </a:avLst>
          </a:prstGeom>
          <a:solidFill>
            <a:srgbClr val="F0FDF4"/>
          </a:solidFill>
          <a:ln/>
        </p:spPr>
        <p:txBody>
          <a:bodyPr/>
          <a:p/>
        </p:txBody>
      </p:sp>
      <p:pic>
        <p:nvPicPr>
          <p:cNvPr id="14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19150" y="1809750"/>
            <a:ext cx="190500" cy="190500"/>
          </a:xfrm>
          <a:prstGeom prst="rect">
            <a:avLst/>
          </a:prstGeom>
          <a:ln/>
        </p:spPr>
      </p:pic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1123950" y="1714500"/>
            <a:ext cx="5381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66534"/>
                </a:solidFill>
                <a:latin typeface="Microsoft YaHei"/>
                <a:ea typeface="Microsoft YaHei"/>
              </a:rPr>
              <a:t>文档地图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1123950" y="1885950"/>
            <a:ext cx="538162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166534"/>
                </a:solidFill>
                <a:latin typeface="Microsoft YaHei"/>
                <a:ea typeface="Microsoft YaHei"/>
              </a:rPr>
              <a:t>结构化理解整体结构与术语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685800" y="2324100"/>
            <a:ext cx="5953125" cy="609600"/>
          </a:xfrm>
          <a:prstGeom prst="roundRect">
            <a:avLst>
              <a:gd name="adj" fmla="val 15625"/>
            </a:avLst>
          </a:prstGeom>
          <a:solidFill>
            <a:srgbClr val="F0FDF4"/>
          </a:solidFill>
          <a:ln/>
        </p:spPr>
        <p:txBody>
          <a:bodyPr/>
          <a:p/>
        </p:txBody>
      </p:sp>
      <p:pic>
        <p:nvPicPr>
          <p:cNvPr id="14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19150" y="2533650"/>
            <a:ext cx="190500" cy="190500"/>
          </a:xfrm>
          <a:prstGeom prst="rect">
            <a:avLst/>
          </a:prstGeom>
          <a:ln/>
        </p:spPr>
      </p:pic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1123950" y="2438400"/>
            <a:ext cx="5381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66534"/>
                </a:solidFill>
                <a:latin typeface="Microsoft YaHei"/>
                <a:ea typeface="Microsoft YaHei"/>
              </a:rPr>
              <a:t>路线规划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1123950" y="2609850"/>
            <a:ext cx="538162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75">
                <a:solidFill>
                  <a:srgbClr val="166534"/>
                </a:solidFill>
                <a:latin typeface="Microsoft YaHei"/>
                <a:ea typeface="Microsoft YaHei"/>
              </a:rPr>
              <a:t>3–6 </a:t>
            </a:r>
            <a:r>
              <a:rPr lang="zh-CN" sz="975">
                <a:solidFill>
                  <a:srgbClr val="166534"/>
                </a:solidFill>
                <a:latin typeface="Microsoft YaHei"/>
                <a:ea typeface="Microsoft YaHei"/>
              </a:rPr>
              <a:t>个阶段、理由与前置关系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685800" y="3048000"/>
            <a:ext cx="5953125" cy="609600"/>
          </a:xfrm>
          <a:prstGeom prst="roundRect">
            <a:avLst>
              <a:gd name="adj" fmla="val 15625"/>
            </a:avLst>
          </a:prstGeom>
          <a:solidFill>
            <a:srgbClr val="F0FDF4"/>
          </a:solidFill>
          <a:ln/>
        </p:spPr>
        <p:txBody>
          <a:bodyPr/>
          <a:p/>
        </p:txBody>
      </p:sp>
      <p:pic>
        <p:nvPicPr>
          <p:cNvPr id="14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19150" y="3257550"/>
            <a:ext cx="190500" cy="190500"/>
          </a:xfrm>
          <a:prstGeom prst="rect">
            <a:avLst/>
          </a:prstGeom>
          <a:ln/>
        </p:spPr>
      </p:pic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1123950" y="3162300"/>
            <a:ext cx="5381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66534"/>
                </a:solidFill>
                <a:latin typeface="Microsoft YaHei"/>
                <a:ea typeface="Microsoft YaHei"/>
              </a:rPr>
              <a:t>阶段讲解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1123950" y="3333750"/>
            <a:ext cx="538162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166534"/>
                </a:solidFill>
                <a:latin typeface="Microsoft YaHei"/>
                <a:ea typeface="Microsoft YaHei"/>
              </a:rPr>
              <a:t>基于来源的机制与约束解释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685800" y="3771900"/>
            <a:ext cx="5953125" cy="609600"/>
          </a:xfrm>
          <a:prstGeom prst="roundRect">
            <a:avLst>
              <a:gd name="adj" fmla="val 15625"/>
            </a:avLst>
          </a:prstGeom>
          <a:solidFill>
            <a:srgbClr val="F0FDF4"/>
          </a:solidFill>
          <a:ln/>
        </p:spPr>
        <p:txBody>
          <a:bodyPr/>
          <a:p/>
        </p:txBody>
      </p:sp>
      <p:pic>
        <p:nvPicPr>
          <p:cNvPr id="15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19150" y="3981450"/>
            <a:ext cx="190500" cy="190500"/>
          </a:xfrm>
          <a:prstGeom prst="rect">
            <a:avLst/>
          </a:prstGeom>
          <a:ln/>
        </p:spPr>
      </p:pic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1123950" y="3886200"/>
            <a:ext cx="5381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66534"/>
                </a:solidFill>
                <a:latin typeface="Microsoft YaHei"/>
                <a:ea typeface="Microsoft YaHei"/>
              </a:rPr>
              <a:t>笔记草稿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1123950" y="4057650"/>
            <a:ext cx="538162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166534"/>
                </a:solidFill>
                <a:latin typeface="Microsoft YaHei"/>
                <a:ea typeface="Microsoft YaHei"/>
              </a:rPr>
              <a:t>结构化草稿，等待用户确认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685800" y="4495800"/>
            <a:ext cx="5953125" cy="466725"/>
          </a:xfrm>
          <a:prstGeom prst="roundRect">
            <a:avLst>
              <a:gd name="adj" fmla="val 20408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819150" y="4610100"/>
            <a:ext cx="5686425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 b="1">
                <a:solidFill>
                  <a:srgbClr val="166534"/>
                </a:solidFill>
                <a:latin typeface="Microsoft YaHei"/>
                <a:ea typeface="Microsoft YaHei"/>
              </a:rPr>
              <a:t>为什么必须用</a:t>
            </a:r>
            <a:r>
              <a:rPr lang="en-US" sz="975" b="1">
                <a:solidFill>
                  <a:srgbClr val="166534"/>
                </a:solidFill>
                <a:latin typeface="Microsoft YaHei"/>
                <a:ea typeface="Microsoft YaHei"/>
              </a:rPr>
              <a:t> AI</a:t>
            </a:r>
            <a:r>
              <a:rPr lang="zh-CN" sz="975" b="1">
                <a:solidFill>
                  <a:srgbClr val="166534"/>
                </a:solidFill>
                <a:latin typeface="Microsoft YaHei"/>
                <a:ea typeface="Microsoft YaHei"/>
              </a:rPr>
              <a:t>：</a:t>
            </a:r>
            <a:r>
              <a:rPr lang="zh-CN" sz="975">
                <a:solidFill>
                  <a:srgbClr val="166534"/>
                </a:solidFill>
                <a:latin typeface="Microsoft YaHei"/>
                <a:ea typeface="Microsoft YaHei"/>
              </a:rPr>
              <a:t>机制拆解、概念依赖需要真正的语言生成能力。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6848475" y="1276350"/>
            <a:ext cx="4657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DC2626"/>
                </a:solidFill>
                <a:latin typeface="Microsoft YaHei"/>
                <a:ea typeface="Microsoft YaHei"/>
              </a:rPr>
              <a:t>AI </a:t>
            </a:r>
            <a:r>
              <a:rPr lang="zh-CN" sz="1350" b="1">
                <a:solidFill>
                  <a:srgbClr val="DC2626"/>
                </a:solidFill>
                <a:latin typeface="Microsoft YaHei"/>
                <a:ea typeface="Microsoft YaHei"/>
              </a:rPr>
              <a:t>不做四件事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6848475" y="1600200"/>
            <a:ext cx="4657725" cy="609600"/>
          </a:xfrm>
          <a:prstGeom prst="roundRect">
            <a:avLst>
              <a:gd name="adj" fmla="val 15625"/>
            </a:avLst>
          </a:prstGeom>
          <a:solidFill>
            <a:srgbClr val="FEF2F2"/>
          </a:solidFill>
          <a:ln/>
        </p:spPr>
        <p:txBody>
          <a:bodyPr/>
          <a:p/>
        </p:txBody>
      </p:sp>
      <p:pic>
        <p:nvPicPr>
          <p:cNvPr id="15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981825" y="1809750"/>
            <a:ext cx="190500" cy="190500"/>
          </a:xfrm>
          <a:prstGeom prst="rect">
            <a:avLst/>
          </a:prstGeom>
          <a:ln/>
        </p:spPr>
      </p:pic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7286625" y="1714500"/>
            <a:ext cx="4086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991B1B"/>
                </a:solidFill>
                <a:latin typeface="Microsoft YaHei"/>
                <a:ea typeface="Microsoft YaHei"/>
              </a:rPr>
              <a:t>不检索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7286625" y="1885950"/>
            <a:ext cx="408622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991B1B"/>
                </a:solidFill>
                <a:latin typeface="Microsoft YaHei"/>
                <a:ea typeface="Microsoft YaHei"/>
              </a:rPr>
              <a:t>本地</a:t>
            </a:r>
            <a:r>
              <a:rPr lang="en-US" sz="975">
                <a:solidFill>
                  <a:srgbClr val="991B1B"/>
                </a:solidFill>
                <a:latin typeface="Microsoft YaHei"/>
                <a:ea typeface="Microsoft YaHei"/>
              </a:rPr>
              <a:t> MiniSearch </a:t>
            </a:r>
            <a:r>
              <a:rPr lang="zh-CN" sz="975">
                <a:solidFill>
                  <a:srgbClr val="991B1B"/>
                </a:solidFill>
                <a:latin typeface="Microsoft YaHei"/>
                <a:ea typeface="Microsoft YaHei"/>
              </a:rPr>
              <a:t>倒排索引</a:t>
            </a:r>
            <a:endParaRPr/>
          </a:p>
        </p:txBody>
      </p:sp>
      <p:sp>
        <p:nvSpPr>
          <p:cNvPr id="162" name=""/>
          <p:cNvSpPr/>
          <p:nvPr/>
        </p:nvSpPr>
        <p:spPr>
          <a:xfrm rot="0" flipH="0" flipV="0">
            <a:off x="6848475" y="2324100"/>
            <a:ext cx="4657725" cy="609600"/>
          </a:xfrm>
          <a:prstGeom prst="roundRect">
            <a:avLst>
              <a:gd name="adj" fmla="val 15625"/>
            </a:avLst>
          </a:prstGeom>
          <a:solidFill>
            <a:srgbClr val="FEF2F2"/>
          </a:solidFill>
          <a:ln/>
        </p:spPr>
        <p:txBody>
          <a:bodyPr/>
          <a:p/>
        </p:txBody>
      </p:sp>
      <p:pic>
        <p:nvPicPr>
          <p:cNvPr id="16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981825" y="2533650"/>
            <a:ext cx="190500" cy="190500"/>
          </a:xfrm>
          <a:prstGeom prst="rect">
            <a:avLst/>
          </a:prstGeom>
          <a:ln/>
        </p:spPr>
      </p:pic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7286625" y="2438400"/>
            <a:ext cx="4086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991B1B"/>
                </a:solidFill>
                <a:latin typeface="Microsoft YaHei"/>
                <a:ea typeface="Microsoft YaHei"/>
              </a:rPr>
              <a:t>不决定顺序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7286625" y="2609850"/>
            <a:ext cx="408622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991B1B"/>
                </a:solidFill>
                <a:latin typeface="Microsoft YaHei"/>
                <a:ea typeface="Microsoft YaHei"/>
              </a:rPr>
              <a:t>阅读画像驱动，非模型拍板</a:t>
            </a:r>
            <a:endParaRPr/>
          </a:p>
        </p:txBody>
      </p:sp>
      <p:sp>
        <p:nvSpPr>
          <p:cNvPr id="166" name=""/>
          <p:cNvSpPr/>
          <p:nvPr/>
        </p:nvSpPr>
        <p:spPr>
          <a:xfrm rot="0" flipH="0" flipV="0">
            <a:off x="6848475" y="3048000"/>
            <a:ext cx="4657725" cy="609600"/>
          </a:xfrm>
          <a:prstGeom prst="roundRect">
            <a:avLst>
              <a:gd name="adj" fmla="val 15625"/>
            </a:avLst>
          </a:prstGeom>
          <a:solidFill>
            <a:srgbClr val="FEF2F2"/>
          </a:solidFill>
          <a:ln/>
        </p:spPr>
        <p:txBody>
          <a:bodyPr/>
          <a:p/>
        </p:txBody>
      </p:sp>
      <p:pic>
        <p:nvPicPr>
          <p:cNvPr id="16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981825" y="3257550"/>
            <a:ext cx="190500" cy="190500"/>
          </a:xfrm>
          <a:prstGeom prst="rect">
            <a:avLst/>
          </a:prstGeom>
          <a:ln/>
        </p:spPr>
      </p:pic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7286625" y="3162300"/>
            <a:ext cx="4086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991B1B"/>
                </a:solidFill>
                <a:latin typeface="Microsoft YaHei"/>
                <a:ea typeface="Microsoft YaHei"/>
              </a:rPr>
              <a:t>不编造引用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7286625" y="3333750"/>
            <a:ext cx="408622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991B1B"/>
                </a:solidFill>
                <a:latin typeface="Microsoft YaHei"/>
                <a:ea typeface="Microsoft YaHei"/>
              </a:rPr>
              <a:t>服务端白名单分配引用</a:t>
            </a:r>
            <a:r>
              <a:rPr lang="en-US" sz="975">
                <a:solidFill>
                  <a:srgbClr val="991B1B"/>
                </a:solidFill>
                <a:latin typeface="Microsoft YaHei"/>
                <a:ea typeface="Microsoft YaHei"/>
              </a:rPr>
              <a:t> ID</a:t>
            </a:r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6848475" y="3771900"/>
            <a:ext cx="4657725" cy="609600"/>
          </a:xfrm>
          <a:prstGeom prst="roundRect">
            <a:avLst>
              <a:gd name="adj" fmla="val 15625"/>
            </a:avLst>
          </a:prstGeom>
          <a:solidFill>
            <a:srgbClr val="FEF2F2"/>
          </a:solidFill>
          <a:ln/>
        </p:spPr>
        <p:txBody>
          <a:bodyPr/>
          <a:p/>
        </p:txBody>
      </p:sp>
      <p:pic>
        <p:nvPicPr>
          <p:cNvPr id="17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981825" y="3981450"/>
            <a:ext cx="190500" cy="190500"/>
          </a:xfrm>
          <a:prstGeom prst="rect">
            <a:avLst/>
          </a:prstGeom>
          <a:ln/>
        </p:spPr>
      </p:pic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7286625" y="3886200"/>
            <a:ext cx="4086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991B1B"/>
                </a:solidFill>
                <a:latin typeface="Microsoft YaHei"/>
                <a:ea typeface="Microsoft YaHei"/>
              </a:rPr>
              <a:t>不直接产出笔记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7286625" y="4057650"/>
            <a:ext cx="4086225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991B1B"/>
                </a:solidFill>
                <a:latin typeface="Microsoft YaHei"/>
                <a:ea typeface="Microsoft YaHei"/>
              </a:rPr>
              <a:t>需用户编辑后确认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6848475" y="4514850"/>
            <a:ext cx="4657725" cy="1333500"/>
          </a:xfrm>
          <a:prstGeom prst="roundRect">
            <a:avLst>
              <a:gd name="adj" fmla="val 8571"/>
            </a:avLst>
          </a:prstGeom>
          <a:solidFill>
            <a:srgbClr val="1E3A5F"/>
          </a:solidFill>
          <a:ln/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7019925" y="4667250"/>
            <a:ext cx="43148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引用防伪机制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7019925" y="4914900"/>
            <a:ext cx="4314825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CBD5E1"/>
                </a:solidFill>
                <a:latin typeface="Microsoft YaHei"/>
                <a:ea typeface="Microsoft YaHei"/>
              </a:rPr>
              <a:t>服务端分配</a:t>
            </a:r>
            <a:r>
              <a:rPr lang="en-US" sz="975">
                <a:solidFill>
                  <a:srgbClr val="CBD5E1"/>
                </a:solidFill>
                <a:latin typeface="Microsoft YaHei"/>
                <a:ea typeface="Microsoft YaHei"/>
              </a:rPr>
              <a:t> </a:t>
            </a:r>
            <a:r>
              <a:rPr lang="en-US" sz="975" b="1">
                <a:solidFill>
                  <a:srgbClr val="F59E0B"/>
                </a:solidFill>
                <a:latin typeface="Microsoft YaHei"/>
                <a:ea typeface="Microsoft YaHei"/>
              </a:rPr>
              <a:t>S1</a:t>
            </a:r>
            <a:r>
              <a:rPr lang="en-US" sz="975">
                <a:solidFill>
                  <a:srgbClr val="CBD5E1"/>
                </a:solidFill>
                <a:latin typeface="Microsoft YaHei"/>
                <a:ea typeface="Microsoft YaHei"/>
              </a:rPr>
              <a:t> </a:t>
            </a:r>
            <a:r>
              <a:rPr lang="zh-CN" sz="975">
                <a:solidFill>
                  <a:srgbClr val="CBD5E1"/>
                </a:solidFill>
                <a:latin typeface="Microsoft YaHei"/>
                <a:ea typeface="Microsoft YaHei"/>
              </a:rPr>
              <a:t>短</a:t>
            </a:r>
            <a:r>
              <a:rPr lang="en-US" sz="975">
                <a:solidFill>
                  <a:srgbClr val="CBD5E1"/>
                </a:solidFill>
                <a:latin typeface="Microsoft YaHei"/>
                <a:ea typeface="Microsoft YaHei"/>
              </a:rPr>
              <a:t> ID → </a:t>
            </a:r>
            <a:r>
              <a:rPr lang="zh-CN" sz="975">
                <a:solidFill>
                  <a:srgbClr val="CBD5E1"/>
                </a:solidFill>
                <a:latin typeface="Microsoft YaHei"/>
                <a:ea typeface="Microsoft YaHei"/>
              </a:rPr>
              <a:t>模型只能返回本轮允许列表</a:t>
            </a:r>
            <a:r>
              <a:rPr lang="en-US" sz="975">
                <a:solidFill>
                  <a:srgbClr val="CBD5E1"/>
                </a:solidFill>
                <a:latin typeface="Microsoft YaHei"/>
                <a:ea typeface="Microsoft YaHei"/>
              </a:rPr>
              <a:t> → </a:t>
            </a:r>
            <a:r>
              <a:rPr lang="zh-CN" sz="975">
                <a:solidFill>
                  <a:srgbClr val="CBD5E1"/>
                </a:solidFill>
                <a:latin typeface="Microsoft YaHei"/>
                <a:ea typeface="Microsoft YaHei"/>
              </a:rPr>
              <a:t>未知</a:t>
            </a:r>
            <a:r>
              <a:rPr lang="en-US" sz="975">
                <a:solidFill>
                  <a:srgbClr val="CBD5E1"/>
                </a:solidFill>
                <a:latin typeface="Microsoft YaHei"/>
                <a:ea typeface="Microsoft YaHei"/>
              </a:rPr>
              <a:t> ID </a:t>
            </a:r>
            <a:r>
              <a:rPr lang="zh-CN" sz="975">
                <a:solidFill>
                  <a:srgbClr val="CBD5E1"/>
                </a:solidFill>
                <a:latin typeface="Microsoft YaHei"/>
                <a:ea typeface="Microsoft YaHei"/>
              </a:rPr>
              <a:t>丢弃</a:t>
            </a:r>
            <a:r>
              <a:rPr lang="en-US" sz="975">
                <a:solidFill>
                  <a:srgbClr val="CBD5E1"/>
                </a:solidFill>
                <a:latin typeface="Microsoft YaHei"/>
                <a:ea typeface="Microsoft YaHei"/>
              </a:rPr>
              <a:t> → </a:t>
            </a:r>
            <a:r>
              <a:rPr lang="zh-CN" sz="975">
                <a:solidFill>
                  <a:srgbClr val="CBD5E1"/>
                </a:solidFill>
                <a:latin typeface="Microsoft YaHei"/>
                <a:ea typeface="Microsoft YaHei"/>
              </a:rPr>
              <a:t>无证据时显示「文档中未找到足够依据」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7019925" y="5467350"/>
            <a:ext cx="4314825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93C5FD"/>
                </a:solidFill>
                <a:latin typeface="Microsoft YaHei"/>
                <a:ea typeface="Microsoft YaHei"/>
              </a:rPr>
              <a:t>为什么不能只靠</a:t>
            </a:r>
            <a:r>
              <a:rPr lang="en-US" sz="975">
                <a:solidFill>
                  <a:srgbClr val="93C5FD"/>
                </a:solidFill>
                <a:latin typeface="Microsoft YaHei"/>
                <a:ea typeface="Microsoft YaHei"/>
              </a:rPr>
              <a:t> AI</a:t>
            </a:r>
            <a:r>
              <a:rPr lang="zh-CN" sz="975">
                <a:solidFill>
                  <a:srgbClr val="93C5FD"/>
                </a:solidFill>
                <a:latin typeface="Microsoft YaHei"/>
                <a:ea typeface="Microsoft YaHei"/>
              </a:rPr>
              <a:t>：幻觉风险</a:t>
            </a:r>
            <a:r>
              <a:rPr lang="en-US" sz="975">
                <a:solidFill>
                  <a:srgbClr val="93C5FD"/>
                </a:solidFill>
                <a:latin typeface="Microsoft YaHei"/>
                <a:ea typeface="Microsoft YaHei"/>
              </a:rPr>
              <a:t> → </a:t>
            </a:r>
            <a:r>
              <a:rPr lang="zh-CN" sz="975">
                <a:solidFill>
                  <a:srgbClr val="93C5FD"/>
                </a:solidFill>
                <a:latin typeface="Microsoft YaHei"/>
                <a:ea typeface="Microsoft YaHei"/>
              </a:rPr>
              <a:t>所以引用白名单</a:t>
            </a:r>
            <a:r>
              <a:rPr lang="en-US" sz="975">
                <a:solidFill>
                  <a:srgbClr val="93C5FD"/>
                </a:solidFill>
                <a:latin typeface="Microsoft YaHei"/>
                <a:ea typeface="Microsoft YaHei"/>
              </a:rPr>
              <a:t> + </a:t>
            </a:r>
            <a:r>
              <a:rPr lang="zh-CN" sz="975">
                <a:solidFill>
                  <a:srgbClr val="93C5FD"/>
                </a:solidFill>
                <a:latin typeface="Microsoft YaHei"/>
                <a:ea typeface="Microsoft YaHei"/>
              </a:rPr>
              <a:t>确认式沉淀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685800" y="650557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Lumen ·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技术文档精读助手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11096625" y="65055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05 / 10</a:t>
            </a:r>
            <a:endParaRPr/>
          </a:p>
        </p:txBody>
      </p:sp>
    </p:spTree>
  </p:cSld>
</p:sld>
</file>

<file path=ppt/slides/slide6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80" name="" descr="&lt;Slide&#10;  notes={`&#10;    架构上我把&quot;可信&quot;做进了每一层。从浏览器到来源网关做安全校验，到解析索引，到精读编排器，再到笔记服务。全局只用一份本地索引和 Qwen 模型，没有通用聊天和知识库的负担。&#10;`}&#10;&gt;&#10;  &lt;Box style={{ width: '100%', height: '100%', paddingTop: 0 }}&gt;&#10;    {/* A 区 标题块 */}&#10;    &lt;Box style={{ height: 110, justifyContent: 'center', paddingLeft: 72, paddingRight: 72, borderBottom: '2px solid #E2E8F0' }}&gt;&#10;      &lt;Box style={{ flexDirection: 'row', alignItems: 'center', justifyContent: 'space-between' }}&gt;&#10;        &lt;Text style={{ fontSize: 32, fontWeight: 'bold', color: '#1E3A5F' }}&gt;把「可信」做进架构里&lt;/Text&gt;&#10;        &lt;Text style={{ fontSize: 14, color: '#64748B' }}&gt;06 系统架构&lt;/Text&gt;&#10;      &lt;/Box&gt;&#10;    &lt;/Box&gt;&#10;&#10;    {/* B 区 左结构 + 右内容 */}&#10;    &lt;Box style={{ height: 550, flexDirection: 'row', paddingLeft: 72, paddingRight: 72, paddingTop: 24, gap: 24 }}&gt;&#10;      {/* 左 55% 架构图 */}&#10;      &lt;Box style={{ flex: 1.15, flexDirection: 'column', gap: 10 }}&gt;&#10;        &lt;Text style={{ fontSize: 18, fontWeight: 'bold', color: '#3B82F6' }}&gt;分层架构&lt;/Text&gt;&#10;        &lt;Box style={{ flex: 1, background: '#F8FAFC', borderRadius: 14, padding: 18, justifyContent: 'center' }}&gt;&#10;          &lt;svg width={450} height={300} viewBox='0 0 450 300'&gt;&#10;            {/* 浏览器 */}&#10;            &lt;rect x={10} y={10} width={168} height={42} rx={10} fill='#1E3A5F' /&gt;&#10;            &lt;text x={94} y={36} textAnchor='middle' fill='#fff' fontSize={14} fontWeight='bold'&gt;软件开发者&lt;/text&gt;&#10;            &lt;rect x={200} y={10} width={200} height={42} rx={10} fill='#1E3A5F' /&gt;&#10;            &lt;text x={300} y={36} textAnchor='middle' fill='#fff' fontSize={14} fontWeight='bold'&gt;Next.js 精读工作区&lt;/text&gt;&#10;            {/* 来源网关 */}&#10;            &lt;rect x={10} y={84} width={168} height={42} rx={10} fill='#3B82F6' /&gt;&#10;            &lt;text x={94} y={110} textAnchor='middle' fill='#fff' fontSize={13} fontWeight='bold'&gt;受控来源网关&lt;/text&gt;&#10;            &lt;rect x={200} y={84} width={200} height={42} rx={10} fill='#3B82F6' /&gt;&#10;            &lt;text x={300} y={110} textAnchor='middle' fill='#fff' fontSize={13} fontWeight='bold'&gt;解析与结构化&lt;/text&gt;&#10;            {/* 索引与检索 */}&#10;            &lt;rect x={200} y={158} width={200} height={42} rx={10} fill='#F59E0B' /&gt;&#10;            &lt;text x={300} y={184} textAnchor='middle' fill='#fff' fontSize={13} fontWeight='bold'&gt;本地章节/关键词索引&lt;/text&gt;&#10;            {/* 编排器 */}&#10;            &lt;rect x={10} y={158} width={168} height={42} rx={10} fill='#3B82F6' /&gt;&#10;            &lt;text x={94} y={184} textAnchor='middle' fill='#fff' fontSize={13} fontWeight='bold'&gt;精读流程编排器&lt;/text&gt;&#10;            {/* 模型 */}&#10;            &lt;rect x={10} y={232} width={168} height={42} rx={10} fill='#7C3AED' /&gt;&#10;            &lt;text x={94} y={258} textAnchor='middle' fill='#fff' fontSize={13} fontWeight='bold'&gt;Qwen 模型 API&lt;/text&gt;&#10;            &lt;rect x={200} y={232} width={200} height={42} rx={10} fill='#1E3A5F' /&gt;&#10;            &lt;text x={300} y={258} textAnchor='middle' fill='#fff' fontSize={13} fontWeight='bold'&gt;确认式笔记 · Markdown&lt;/text&gt;&#10;            {/* 连线 */}&#10;            &lt;line x1={94} y1={52} x2={94} y2={84} stroke='#94A3B8' strokeWidth={2} /&gt;&#10;            &lt;line x1={300} y1={52} x2={300} y2={84} stroke='#94A3B8' strokeWidth={2} /&gt;&#10;            &lt;line x1={94} y1={126} x2={94} y2={158} stroke='#94A3B8' strokeWidth={2} /&gt;&#10;            &lt;line x1={300} y1={126} x2={300} y2={158} stroke='#94A3B8' strokeWidth={2} /&gt;&#10;            &lt;line x1={300} y1={200} x2={94} y2={200} stroke='#94A3B8' strokeWidth={2} /&gt;&#10;            &lt;line x1={94} y1={200} x2={94} y2={232} stroke='#94A3B8' strokeWidth={2} /&gt;&#10;            &lt;line x1={300} y1={200} x2={300} y2={232} stroke='#94A3B8' strokeWidth={2} /&gt;&#10;          &lt;/svg&gt;&#10;        &lt;/Box&gt;&#10;      &lt;/Box&gt;&#10;&#10;      {/* 右 45% 技术栈 + 安全 */}&#10;      &lt;Box style={{ flex: 0.9, flexDirection: 'column', gap: 12 }}&gt;&#10;        &lt;Text style={{ fontSize: 18, fontWeight: 'bold', color: '#3B82F6' }}&gt;技术栈&lt;/Text&gt;&#10;        &lt;Box style={{ flexDirection: 'row', flexWrap: 'wrap', gap: 8 }}&gt;&#10;          {['Next.js 16', 'React 19', 'TypeScript', 'pdfjs-dist', 'MiniSearch', 'Zod', 'Qwen3.6-flash'].map((t, i) =&gt; (&#10;            &lt;Box key={i} style={{ background: '#DBEAFE', borderRadius: 20, padding: '6px 14px' }}&gt;&#10;              &lt;Text style={{ fontSize: 13, fontWeight: 'bold', color: '#1E3A5F' }}&gt;{t}&lt;/Text&gt;&#10;            &lt;/Box&gt;&#10;          ))}&#10;        &lt;/Box&gt;&#10;        &lt;Box style={{ display: 'flex', flexDirection: 'column', gap: 10, marginTop: 4 }}&gt;&#10;          &lt;Text style={{ fontSize: 18, fontWeight: 'bold', color: '#3B82F6' }}&gt;安全边界&lt;/Text&gt;&#10;          {[&#10;            'SSRF 校验：拒绝私网 / 云元数据 / 本机',&#10;            '文档只作数据，不改系统指令、不调工具',&#10;            '日志不记录全文、Cookie、密钥',&#10;            '按 IP / 会话限流，会话 TTL 2 小时',&#10;          ].map((s, i) =&gt; (&#10;            &lt;Box key={i} style={{ flexDirection: 'row', alignItems: 'center', gap: 8 }}&gt;&#10;              &lt;FAIcon name='check-circle' style={{ fill: '#16A34A', width: 18, height: 18 }} /&gt;&#10;              &lt;Text style={{ fontSize: 14, color: '#334155', lineHeight: 1.5, flex: 1 }}&gt;{s}&lt;/Text&gt;&#10;            &lt;/Box&gt;&#10;          ))}&#10;        &lt;/Box&gt;&#10;        &lt;Box style={{ background: '#FFF7ED', borderRadius: 10, padding: '12px 14px', border: '1px solid #FDE68A', marginTop: 4 }}&gt;&#10;          &lt;Text style={{ fontSize: 13, fontWeight: 'bold', color: '#B45309' }}&gt;8 类故障降级&lt;/Text&gt;&#10;          &lt;Text style={{ fontSize: 13, color: '#92400E', lineHeight: 1.6, marginTop: 4 }}&gt;&#10;            无文本 / 动态无正文 / URL 校验失败 / 检索无结果 / 模型输出无效 / SSE 中断 / 草稿重复接纳 / 会话过期&#10;          &lt;/Text&gt;&#10;        &lt;/Box&gt;&#10;      &lt;/Box&gt;&#10;    &lt;/Box&gt;&#10;&#10;    {/* C 区 页脚 */}&#10;    &lt;Box style={{ position: 'absolute', left: 72, right: 72, bottom: 20, flexDirection: 'row', justifyContent: 'space-between' }}&gt;&#10;      &lt;Text style={{ fontSize: 14, color: '#94A3B8' }}&gt;Lumen · 技术文档精读助手&lt;/Text&gt;&#10;      &lt;Text style={{ fontSize: 14, color: '#94A3B8' }}&gt;06 / 10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"/>
          <p:cNvSpPr/>
          <p:nvPr/>
        </p:nvSpPr>
        <p:spPr>
          <a:xfrm rot="0" flipH="0" flipV="0">
            <a:off x="0" y="0"/>
            <a:ext cx="12192000" cy="1047750"/>
          </a:xfrm>
          <a:custGeom>
            <a:pathLst>
              <a:path w="1280" h="110">
                <a:moveTo>
                  <a:pt x="0" y="108"/>
                </a:moveTo>
                <a:lnTo>
                  <a:pt x="1280" y="108"/>
                </a:lnTo>
                <a:lnTo>
                  <a:pt x="1280" y="110"/>
                </a:lnTo>
                <a:lnTo>
                  <a:pt x="0" y="110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685800" y="333375"/>
            <a:ext cx="30480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1E3A5F"/>
                </a:solidFill>
                <a:latin typeface="Microsoft YaHei"/>
                <a:ea typeface="Microsoft YaHei"/>
              </a:rPr>
              <a:t>把「可信」做进架构里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10782300" y="438150"/>
            <a:ext cx="72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06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系统架构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685800" y="1276350"/>
            <a:ext cx="5943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3B82F6"/>
                </a:solidFill>
                <a:latin typeface="Microsoft YaHei"/>
                <a:ea typeface="Microsoft YaHei"/>
              </a:rPr>
              <a:t>分层架构</a:t>
            </a:r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685800" y="1581150"/>
            <a:ext cx="5943600" cy="4705350"/>
          </a:xfrm>
          <a:prstGeom prst="roundRect">
            <a:avLst>
              <a:gd name="adj" fmla="val 2834"/>
            </a:avLst>
          </a:prstGeom>
          <a:solidFill>
            <a:srgbClr val="F8FAFC"/>
          </a:solidFill>
          <a:ln/>
        </p:spPr>
        <p:txBody>
          <a:bodyPr/>
          <a:p/>
        </p:txBody>
      </p:sp>
      <p:pic>
        <p:nvPicPr>
          <p:cNvPr id="18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57250" y="2505075"/>
            <a:ext cx="4286250" cy="2857500"/>
          </a:xfrm>
          <a:prstGeom prst="rect">
            <a:avLst/>
          </a:prstGeom>
          <a:ln/>
        </p:spPr>
      </p:pic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6858000" y="1276350"/>
            <a:ext cx="4648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3B82F6"/>
                </a:solidFill>
                <a:latin typeface="Microsoft YaHei"/>
                <a:ea typeface="Microsoft YaHei"/>
              </a:rPr>
              <a:t>技术栈</a:t>
            </a:r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6858000" y="1600200"/>
            <a:ext cx="847725" cy="266700"/>
          </a:xfrm>
          <a:prstGeom prst="roundRect">
            <a:avLst>
              <a:gd name="adj" fmla="val 71429"/>
            </a:avLst>
          </a:prstGeom>
          <a:solidFill>
            <a:srgbClr val="DBEAFE"/>
          </a:solidFill>
          <a:ln/>
        </p:spPr>
        <p:txBody>
          <a:bodyPr/>
          <a:p/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6991350" y="1657350"/>
            <a:ext cx="5810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3A5F"/>
                </a:solidFill>
                <a:latin typeface="Microsoft YaHei"/>
                <a:ea typeface="Microsoft YaHei"/>
              </a:rPr>
              <a:t>Next.js 16</a:t>
            </a:r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7781925" y="1600200"/>
            <a:ext cx="781050" cy="266700"/>
          </a:xfrm>
          <a:prstGeom prst="roundRect">
            <a:avLst>
              <a:gd name="adj" fmla="val 71429"/>
            </a:avLst>
          </a:prstGeom>
          <a:solidFill>
            <a:srgbClr val="DBEAFE"/>
          </a:solidFill>
          <a:ln/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7915275" y="1657350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3A5F"/>
                </a:solidFill>
                <a:latin typeface="Microsoft YaHei"/>
                <a:ea typeface="Microsoft YaHei"/>
              </a:rPr>
              <a:t>React 19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8639175" y="1600200"/>
            <a:ext cx="904875" cy="266700"/>
          </a:xfrm>
          <a:prstGeom prst="roundRect">
            <a:avLst>
              <a:gd name="adj" fmla="val 71429"/>
            </a:avLst>
          </a:prstGeom>
          <a:solidFill>
            <a:srgbClr val="DBEAFE"/>
          </a:solidFill>
          <a:ln/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8772525" y="1657350"/>
            <a:ext cx="638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3A5F"/>
                </a:solidFill>
                <a:latin typeface="Microsoft YaHei"/>
                <a:ea typeface="Microsoft YaHei"/>
              </a:rPr>
              <a:t>TypeScript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9620250" y="1600200"/>
            <a:ext cx="828675" cy="266700"/>
          </a:xfrm>
          <a:prstGeom prst="roundRect">
            <a:avLst>
              <a:gd name="adj" fmla="val 71429"/>
            </a:avLst>
          </a:prstGeom>
          <a:solidFill>
            <a:srgbClr val="DBEAFE"/>
          </a:solidFill>
          <a:ln/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9753600" y="1657350"/>
            <a:ext cx="561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3A5F"/>
                </a:solidFill>
                <a:latin typeface="Microsoft YaHei"/>
                <a:ea typeface="Microsoft YaHei"/>
              </a:rPr>
              <a:t>pdfjs-dist</a:t>
            </a:r>
            <a:endParaRPr/>
          </a:p>
        </p:txBody>
      </p:sp>
      <p:sp>
        <p:nvSpPr>
          <p:cNvPr id="196" name=""/>
          <p:cNvSpPr/>
          <p:nvPr/>
        </p:nvSpPr>
        <p:spPr>
          <a:xfrm rot="0" flipH="0" flipV="0">
            <a:off x="10525125" y="1600200"/>
            <a:ext cx="933450" cy="266700"/>
          </a:xfrm>
          <a:prstGeom prst="roundRect">
            <a:avLst>
              <a:gd name="adj" fmla="val 71429"/>
            </a:avLst>
          </a:prstGeom>
          <a:solidFill>
            <a:srgbClr val="DBEAFE"/>
          </a:solidFill>
          <a:ln/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10658475" y="1657350"/>
            <a:ext cx="666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3A5F"/>
                </a:solidFill>
                <a:latin typeface="Microsoft YaHei"/>
                <a:ea typeface="Microsoft YaHei"/>
              </a:rPr>
              <a:t>MiniSearch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6858000" y="1943100"/>
            <a:ext cx="495300" cy="266700"/>
          </a:xfrm>
          <a:prstGeom prst="roundRect">
            <a:avLst>
              <a:gd name="adj" fmla="val 71429"/>
            </a:avLst>
          </a:prstGeom>
          <a:solidFill>
            <a:srgbClr val="DBEAFE"/>
          </a:solidFill>
          <a:ln/>
        </p:spPr>
        <p:txBody>
          <a:bodyPr/>
          <a:p/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6991350" y="2000250"/>
            <a:ext cx="228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3A5F"/>
                </a:solidFill>
                <a:latin typeface="Microsoft YaHei"/>
                <a:ea typeface="Microsoft YaHei"/>
              </a:rPr>
              <a:t>Zod</a:t>
            </a:r>
            <a:endParaRPr/>
          </a:p>
        </p:txBody>
      </p:sp>
      <p:sp>
        <p:nvSpPr>
          <p:cNvPr id="200" name=""/>
          <p:cNvSpPr/>
          <p:nvPr/>
        </p:nvSpPr>
        <p:spPr>
          <a:xfrm rot="0" flipH="0" flipV="0">
            <a:off x="7429500" y="1943100"/>
            <a:ext cx="1114425" cy="266700"/>
          </a:xfrm>
          <a:prstGeom prst="roundRect">
            <a:avLst>
              <a:gd name="adj" fmla="val 71429"/>
            </a:avLst>
          </a:prstGeom>
          <a:solidFill>
            <a:srgbClr val="DBEAFE"/>
          </a:solidFill>
          <a:ln/>
        </p:spPr>
        <p:txBody>
          <a:bodyPr/>
          <a:p/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7562850" y="2000250"/>
            <a:ext cx="847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3A5F"/>
                </a:solidFill>
                <a:latin typeface="Microsoft YaHei"/>
                <a:ea typeface="Microsoft YaHei"/>
              </a:rPr>
              <a:t>Qwen3.6-flash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6858000" y="2362200"/>
            <a:ext cx="4648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3B82F6"/>
                </a:solidFill>
                <a:latin typeface="Microsoft YaHei"/>
                <a:ea typeface="Microsoft YaHei"/>
              </a:rPr>
              <a:t>安全边界</a:t>
            </a:r>
            <a:endParaRPr/>
          </a:p>
        </p:txBody>
      </p:sp>
      <p:pic>
        <p:nvPicPr>
          <p:cNvPr id="20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858000" y="2705100"/>
            <a:ext cx="171450" cy="171450"/>
          </a:xfrm>
          <a:prstGeom prst="rect">
            <a:avLst/>
          </a:prstGeom>
          <a:ln/>
        </p:spPr>
      </p:pic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7105650" y="2667000"/>
            <a:ext cx="44005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334155"/>
                </a:solidFill>
                <a:latin typeface="Microsoft YaHei"/>
                <a:ea typeface="Microsoft YaHei"/>
              </a:rPr>
              <a:t>SSRF </a:t>
            </a: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校验：拒绝私网</a:t>
            </a:r>
            <a:r>
              <a:rPr lang="en-US" sz="1050">
                <a:solidFill>
                  <a:srgbClr val="334155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云元数据</a:t>
            </a:r>
            <a:r>
              <a:rPr lang="en-US" sz="1050">
                <a:solidFill>
                  <a:srgbClr val="334155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本机</a:t>
            </a:r>
            <a:endParaRPr/>
          </a:p>
        </p:txBody>
      </p:sp>
      <p:pic>
        <p:nvPicPr>
          <p:cNvPr id="20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858000" y="3048000"/>
            <a:ext cx="171450" cy="171450"/>
          </a:xfrm>
          <a:prstGeom prst="rect">
            <a:avLst/>
          </a:prstGeom>
          <a:ln/>
        </p:spPr>
      </p:pic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7105650" y="3009900"/>
            <a:ext cx="44005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文档只作数据，不改系统指令、不调工具</a:t>
            </a:r>
            <a:endParaRPr/>
          </a:p>
        </p:txBody>
      </p:sp>
      <p:pic>
        <p:nvPicPr>
          <p:cNvPr id="20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858000" y="3390900"/>
            <a:ext cx="171450" cy="171450"/>
          </a:xfrm>
          <a:prstGeom prst="rect">
            <a:avLst/>
          </a:prstGeom>
          <a:ln/>
        </p:spPr>
      </p:pic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7105650" y="3352800"/>
            <a:ext cx="44005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日志不记录全文、</a:t>
            </a:r>
            <a:r>
              <a:rPr lang="en-US" sz="1050">
                <a:solidFill>
                  <a:srgbClr val="334155"/>
                </a:solidFill>
                <a:latin typeface="Microsoft YaHei"/>
                <a:ea typeface="Microsoft YaHei"/>
              </a:rPr>
              <a:t>Cookie</a:t>
            </a: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、密钥</a:t>
            </a:r>
            <a:endParaRPr/>
          </a:p>
        </p:txBody>
      </p:sp>
      <p:pic>
        <p:nvPicPr>
          <p:cNvPr id="20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858000" y="3733800"/>
            <a:ext cx="171450" cy="171450"/>
          </a:xfrm>
          <a:prstGeom prst="rect">
            <a:avLst/>
          </a:prstGeom>
          <a:ln/>
        </p:spPr>
      </p:pic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7105650" y="3695700"/>
            <a:ext cx="44005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按</a:t>
            </a:r>
            <a:r>
              <a:rPr lang="en-US" sz="1050">
                <a:solidFill>
                  <a:srgbClr val="334155"/>
                </a:solidFill>
                <a:latin typeface="Microsoft YaHei"/>
                <a:ea typeface="Microsoft YaHei"/>
              </a:rPr>
              <a:t> IP / </a:t>
            </a: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会话限流，会话</a:t>
            </a:r>
            <a:r>
              <a:rPr lang="en-US" sz="1050">
                <a:solidFill>
                  <a:srgbClr val="334155"/>
                </a:solidFill>
                <a:latin typeface="Microsoft YaHei"/>
                <a:ea typeface="Microsoft YaHei"/>
              </a:rPr>
              <a:t> TTL 2 </a:t>
            </a: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小时</a:t>
            </a:r>
            <a:endParaRPr/>
          </a:p>
        </p:txBody>
      </p:sp>
      <p:sp>
        <p:nvSpPr>
          <p:cNvPr id="211" name=""/>
          <p:cNvSpPr/>
          <p:nvPr/>
        </p:nvSpPr>
        <p:spPr>
          <a:xfrm rot="0" flipH="0" flipV="0">
            <a:off x="6858000" y="4095750"/>
            <a:ext cx="4648200" cy="895350"/>
          </a:xfrm>
          <a:prstGeom prst="roundRect">
            <a:avLst>
              <a:gd name="adj" fmla="val 10638"/>
            </a:avLst>
          </a:prstGeom>
          <a:solidFill>
            <a:srgbClr val="FFF7ED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6991350" y="4210050"/>
            <a:ext cx="4381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B45309"/>
                </a:solidFill>
                <a:latin typeface="Microsoft YaHei"/>
                <a:ea typeface="Microsoft YaHei"/>
              </a:rPr>
              <a:t>8 </a:t>
            </a:r>
            <a:r>
              <a:rPr lang="zh-CN" sz="975" b="1">
                <a:solidFill>
                  <a:srgbClr val="B45309"/>
                </a:solidFill>
                <a:latin typeface="Microsoft YaHei"/>
                <a:ea typeface="Microsoft YaHei"/>
              </a:rPr>
              <a:t>类故障降级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6991350" y="4400550"/>
            <a:ext cx="43815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92400E"/>
                </a:solidFill>
                <a:latin typeface="Microsoft YaHei"/>
                <a:ea typeface="Microsoft YaHei"/>
              </a:rPr>
              <a:t>无文本</a:t>
            </a:r>
            <a:r>
              <a:rPr lang="en-US" sz="975">
                <a:solidFill>
                  <a:srgbClr val="92400E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92400E"/>
                </a:solidFill>
                <a:latin typeface="Microsoft YaHei"/>
                <a:ea typeface="Microsoft YaHei"/>
              </a:rPr>
              <a:t>动态无正文</a:t>
            </a:r>
            <a:r>
              <a:rPr lang="en-US" sz="975">
                <a:solidFill>
                  <a:srgbClr val="92400E"/>
                </a:solidFill>
                <a:latin typeface="Microsoft YaHei"/>
                <a:ea typeface="Microsoft YaHei"/>
              </a:rPr>
              <a:t> / URL </a:t>
            </a:r>
            <a:r>
              <a:rPr lang="zh-CN" sz="975">
                <a:solidFill>
                  <a:srgbClr val="92400E"/>
                </a:solidFill>
                <a:latin typeface="Microsoft YaHei"/>
                <a:ea typeface="Microsoft YaHei"/>
              </a:rPr>
              <a:t>校验失败</a:t>
            </a:r>
            <a:r>
              <a:rPr lang="en-US" sz="975">
                <a:solidFill>
                  <a:srgbClr val="92400E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92400E"/>
                </a:solidFill>
                <a:latin typeface="Microsoft YaHei"/>
                <a:ea typeface="Microsoft YaHei"/>
              </a:rPr>
              <a:t>检索无结果</a:t>
            </a:r>
            <a:r>
              <a:rPr lang="en-US" sz="975">
                <a:solidFill>
                  <a:srgbClr val="92400E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92400E"/>
                </a:solidFill>
                <a:latin typeface="Microsoft YaHei"/>
                <a:ea typeface="Microsoft YaHei"/>
              </a:rPr>
              <a:t>模型输出无效</a:t>
            </a:r>
            <a:r>
              <a:rPr lang="en-US" sz="975">
                <a:solidFill>
                  <a:srgbClr val="92400E"/>
                </a:solidFill>
                <a:latin typeface="Microsoft YaHei"/>
                <a:ea typeface="Microsoft YaHei"/>
              </a:rPr>
              <a:t> / SSE </a:t>
            </a:r>
            <a:r>
              <a:rPr lang="zh-CN" sz="975">
                <a:solidFill>
                  <a:srgbClr val="92400E"/>
                </a:solidFill>
                <a:latin typeface="Microsoft YaHei"/>
                <a:ea typeface="Microsoft YaHei"/>
              </a:rPr>
              <a:t>中断</a:t>
            </a:r>
            <a:r>
              <a:rPr lang="en-US" sz="975">
                <a:solidFill>
                  <a:srgbClr val="92400E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92400E"/>
                </a:solidFill>
                <a:latin typeface="Microsoft YaHei"/>
                <a:ea typeface="Microsoft YaHei"/>
              </a:rPr>
              <a:t>草稿重复接纳</a:t>
            </a:r>
            <a:r>
              <a:rPr lang="en-US" sz="975">
                <a:solidFill>
                  <a:srgbClr val="92400E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92400E"/>
                </a:solidFill>
                <a:latin typeface="Microsoft YaHei"/>
                <a:ea typeface="Microsoft YaHei"/>
              </a:rPr>
              <a:t>会话过期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685800" y="650557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Lumen ·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技术文档精读助手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11096625" y="65055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06 / 10</a:t>
            </a:r>
            <a:endParaRPr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6" name="" descr="&lt;Slide&#10;  notes={`&#10;    这是最想展示的一页。我用真实的 MyBatis 事务规范跑了完整主流程——57 页的 PDF，生成了 80 个来源块，4 阶段路线，首阶段讲解带真实引用，最后笔记从 1426 字的人工草稿校订成 219 字。这些数字都是实测，不是估算。&#10;`}&#10;&gt;&#10;  &lt;Box style={{ width: '100%', height: '100%', paddingTop: 0 }}&gt;&#10;    {/* A 区 标题块 */}&#10;    &lt;Box style={{ height: 110, justifyContent: 'center', paddingLeft: 72, paddingRight: 72, borderBottom: '2px solid #E2E8F0' }}&gt;&#10;      &lt;Box style={{ flexDirection: 'row', alignItems: 'center', justifyContent: 'space-between' }}&gt;&#10;        &lt;Text style={{ fontSize: 30, fontWeight: 'bold', color: '#1E3A5F' }}&gt;跑通真实主流程：57 页 → 4 阶段 → 可信引用 → 确认笔记&lt;/Text&gt;&#10;        &lt;Text style={{ fontSize: 14, color: '#64748B' }}&gt;07 Demo 实景&lt;/Text&gt;&#10;      &lt;/Box&gt;&#10;    &lt;/Box&gt;&#10;&#10;    {/* B 区 上大图（截图拼版）+ 下数据 */}&#10;    &lt;Box style={{ height: 550, flexDirection: 'column', paddingLeft: 72, paddingRight: 72, paddingTop: 18, gap: 14 }}&gt;&#10;      {/* 截图拼版 */}&#10;      &lt;Box style={{ flexDirection: 'row', gap: 12, height: 300 }}&gt;&#10;        &lt;Box style={{ flex: 1, borderRadius: 10, overflow: 'hidden', boxShadow: '0 8px 24px rgba(0,0,0,0.12)' }}&gt;&#10;          &lt;Image src=&quot;assets/04-map-route.png&quot; style={{ width: '100%', height: '100%', objectFit: 'cover' }} /&gt;&#10;        &lt;/Box&gt;&#10;        &lt;Box style={{ flex: 1, borderRadius: 10, overflow: 'hidden', boxShadow: '0 8px 24px rgba(0,0,0,0.12)' }}&gt;&#10;          &lt;Image src=&quot;assets/07-stage-reading.png&quot; style={{ width: '100%', height: '100%', objectFit: 'cover' }} /&gt;&#10;        &lt;/Box&gt;&#10;        &lt;Box style={{ flex: 1, borderRadius: 10, overflow: 'hidden', boxShadow: '0 8px 24px rgba(0,0,0,0.12)' }}&gt;&#10;          &lt;Image src=&quot;assets/08-source-citation.png&quot; style={{ width: '100%', height: '100%', objectFit: 'cover' }} /&gt;&#10;        &lt;/Box&gt;&#10;      &lt;/Box&gt;&#10;&#10;      {/* 实测数据锚点行 */}&#10;      &lt;Box style={{ flex: 1, flexDirection: 'column', gap: 12, justifyContent: 'center' }}&gt;&#10;        &lt;Box style={{ flexDirection: 'row', gap: 14 }}&gt;&#10;          {[&#10;            { n: '57', u: '页', l: 'MyBatis 事务规范真实导入' },&#10;            { n: '80', u: '来源块', l: '分块索引与引用定位' },&#10;            { n: '4', u: '阶段', l: '画像驱动精读路线' },&#10;            { n: '64', u: '测试', l: '17 文件全部通过' },&#10;          ].map((d, i) =&gt; (&#10;            &lt;Box key={i} style={{ flex: 1, background: '#F8FAFC', borderRadius: 12, padding: '14px 16px', alignItems: 'center' }}&gt;&#10;              &lt;Text style={{ fontSize: 40, fontWeight: 'bold', color: '#F59E0B', lineHeight: 1.0 }}&gt;&#10;                {d.n}&lt;span style={{ fontSize: 18, color: '#64748B' }}&gt; {d.u}&lt;/span&gt;&#10;              &lt;/Text&gt;&#10;              &lt;Text style={{ fontSize: 13, color: '#64748B', marginTop: 6, textAlign: 'center' }}&gt;{d.l}&lt;/Text&gt;&#10;            &lt;/Box&gt;&#10;          ))}&#10;        &lt;/Box&gt;&#10;        &lt;Box style={{ flexDirection: 'row', gap: 12, alignItems: 'center' }}&gt;&#10;          &lt;Box style={{ flex: 1, background: '#1E3A5F', borderRadius: 10, padding: '12px 16px' }}&gt;&#10;            &lt;Text style={{ fontSize: 14, color: '#FFFFFF' }}&gt;&#10;              &lt;span style={{ fontWeight: 'bold', color: '#F59E0B' }}&gt;1426 字&lt;/span&gt; AI 草稿 → 人工校订 → &lt;span style={{ fontWeight: 'bold', color: '#F59E0B' }}&gt;219 字&lt;/span&gt; 核对版&#10;            &lt;/Text&gt;&#10;          &lt;/Box&gt;&#10;          &lt;Box style={{ flex: 1, background: '#FFF7ED', borderRadius: 10, padding: '12px 16px', border: '1px solid #FDE68A' }}&gt;&#10;            &lt;Text style={{ fontSize: 13, color: '#92400E' }}&gt;&#10;              生产构建通过 · 0 已知漏洞 · 390px 无横向溢出&#10;            &lt;/Text&gt;&#10;          &lt;/Box&gt;&#10;        &lt;/Box&gt;&#10;      &lt;/Box&gt;&#10;    &lt;/Box&gt;&#10;&#10;    {/* C 区 页脚 */}&#10;    &lt;Box style={{ position: 'absolute', left: 72, right: 72, bottom: 20, flexDirection: 'row', justifyContent: 'space-between' }}&gt;&#10;      &lt;Text style={{ fontSize: 14, color: '#94A3B8' }}&gt;Lumen · 技术文档精读助手&lt;/Text&gt;&#10;      &lt;Text style={{ fontSize: 14, color: '#94A3B8' }}&gt;07 / 10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"/>
          <p:cNvSpPr/>
          <p:nvPr/>
        </p:nvSpPr>
        <p:spPr>
          <a:xfrm rot="0" flipH="0" flipV="0">
            <a:off x="0" y="0"/>
            <a:ext cx="12192000" cy="1047750"/>
          </a:xfrm>
          <a:custGeom>
            <a:pathLst>
              <a:path w="1280" h="110">
                <a:moveTo>
                  <a:pt x="0" y="108"/>
                </a:moveTo>
                <a:lnTo>
                  <a:pt x="1280" y="108"/>
                </a:lnTo>
                <a:lnTo>
                  <a:pt x="1280" y="110"/>
                </a:lnTo>
                <a:lnTo>
                  <a:pt x="0" y="110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685800" y="342900"/>
            <a:ext cx="74009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E3A5F"/>
                </a:solidFill>
                <a:latin typeface="Microsoft YaHei"/>
                <a:ea typeface="Microsoft YaHei"/>
              </a:rPr>
              <a:t>跑通真实主流程：</a:t>
            </a:r>
            <a:r>
              <a:rPr lang="en-US" sz="2250" b="1">
                <a:solidFill>
                  <a:srgbClr val="1E3A5F"/>
                </a:solidFill>
                <a:latin typeface="Microsoft YaHei"/>
                <a:ea typeface="Microsoft YaHei"/>
              </a:rPr>
              <a:t>57 </a:t>
            </a:r>
            <a:r>
              <a:rPr lang="zh-CN" sz="2250" b="1">
                <a:solidFill>
                  <a:srgbClr val="1E3A5F"/>
                </a:solidFill>
                <a:latin typeface="Microsoft YaHei"/>
                <a:ea typeface="Microsoft YaHei"/>
              </a:rPr>
              <a:t>页</a:t>
            </a:r>
            <a:r>
              <a:rPr lang="en-US" sz="2250" b="1">
                <a:solidFill>
                  <a:srgbClr val="1E3A5F"/>
                </a:solidFill>
                <a:latin typeface="Microsoft YaHei"/>
                <a:ea typeface="Microsoft YaHei"/>
              </a:rPr>
              <a:t> → 4 </a:t>
            </a:r>
            <a:r>
              <a:rPr lang="zh-CN" sz="2250" b="1">
                <a:solidFill>
                  <a:srgbClr val="1E3A5F"/>
                </a:solidFill>
                <a:latin typeface="Microsoft YaHei"/>
                <a:ea typeface="Microsoft YaHei"/>
              </a:rPr>
              <a:t>阶段</a:t>
            </a:r>
            <a:r>
              <a:rPr lang="en-US" sz="2250" b="1">
                <a:solidFill>
                  <a:srgbClr val="1E3A5F"/>
                </a:solidFill>
                <a:latin typeface="Microsoft YaHei"/>
                <a:ea typeface="Microsoft YaHei"/>
              </a:rPr>
              <a:t> → </a:t>
            </a:r>
            <a:r>
              <a:rPr lang="zh-CN" sz="2250" b="1">
                <a:solidFill>
                  <a:srgbClr val="1E3A5F"/>
                </a:solidFill>
                <a:latin typeface="Microsoft YaHei"/>
                <a:ea typeface="Microsoft YaHei"/>
              </a:rPr>
              <a:t>可信引用</a:t>
            </a:r>
            <a:r>
              <a:rPr lang="en-US" sz="2250" b="1">
                <a:solidFill>
                  <a:srgbClr val="1E3A5F"/>
                </a:solidFill>
                <a:latin typeface="Microsoft YaHei"/>
                <a:ea typeface="Microsoft YaHei"/>
              </a:rPr>
              <a:t> → </a:t>
            </a:r>
            <a:r>
              <a:rPr lang="zh-CN" sz="2250" b="1">
                <a:solidFill>
                  <a:srgbClr val="1E3A5F"/>
                </a:solidFill>
                <a:latin typeface="Microsoft YaHei"/>
                <a:ea typeface="Microsoft YaHei"/>
              </a:rPr>
              <a:t>确认笔记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10658475" y="438150"/>
            <a:ext cx="847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07 Demo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实景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685800" y="1219200"/>
            <a:ext cx="3533775" cy="2857500"/>
          </a:xfrm>
          <a:prstGeom prst="roundRect">
            <a:avLst>
              <a:gd name="adj" fmla="val 3333"/>
            </a:avLst>
          </a:prstGeom>
          <a:ln/>
          <a:effectLst>
            <a:outerShdw blurRad="228600" dist="762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221" name=""/>
          <p:cNvPicPr>
            <a:picLocks noChangeAspect="1"/>
          </p:cNvPicPr>
          <p:nvPr/>
        </p:nvPicPr>
        <p:blipFill>
          <a:blip r:embed="rId1"/>
          <a:srcRect l="11374" t="0" r="11374" b="0"/>
          <a:stretch>
            <a:fillRect/>
          </a:stretch>
        </p:blipFill>
        <p:spPr>
          <a:xfrm rot="0" flipH="0" flipV="0">
            <a:off x="685800" y="1219200"/>
            <a:ext cx="3533775" cy="2857500"/>
          </a:xfrm>
          <a:custGeom>
            <a:pathLst>
              <a:path w="371" h="300">
                <a:moveTo>
                  <a:pt x="361" y="0"/>
                </a:moveTo>
                <a:cubicBezTo>
                  <a:pt x="367" y="0"/>
                  <a:pt x="371" y="5"/>
                  <a:pt x="371" y="10"/>
                </a:cubicBezTo>
                <a:lnTo>
                  <a:pt x="371" y="290"/>
                </a:lnTo>
                <a:cubicBezTo>
                  <a:pt x="371" y="296"/>
                  <a:pt x="367" y="300"/>
                  <a:pt x="361" y="300"/>
                </a:cubicBezTo>
                <a:lnTo>
                  <a:pt x="10" y="300"/>
                </a:lnTo>
                <a:cubicBezTo>
                  <a:pt x="4" y="300"/>
                  <a:pt x="0" y="296"/>
                  <a:pt x="0" y="290"/>
                </a:cubicBezTo>
                <a:lnTo>
                  <a:pt x="0" y="10"/>
                </a:lnTo>
                <a:cubicBezTo>
                  <a:pt x="0" y="4"/>
                  <a:pt x="4" y="0"/>
                  <a:pt x="10" y="0"/>
                </a:cubicBezTo>
                <a:lnTo>
                  <a:pt x="361" y="0"/>
                </a:lnTo>
                <a:close/>
              </a:path>
            </a:pathLst>
          </a:custGeom>
          <a:ln/>
        </p:spPr>
      </p:pic>
      <p:sp>
        <p:nvSpPr>
          <p:cNvPr id="222" name=""/>
          <p:cNvSpPr/>
          <p:nvPr/>
        </p:nvSpPr>
        <p:spPr>
          <a:xfrm rot="0" flipH="0" flipV="0">
            <a:off x="4333875" y="1219200"/>
            <a:ext cx="3524250" cy="2857500"/>
          </a:xfrm>
          <a:prstGeom prst="roundRect">
            <a:avLst>
              <a:gd name="adj" fmla="val 3333"/>
            </a:avLst>
          </a:prstGeom>
          <a:ln/>
          <a:effectLst>
            <a:outerShdw blurRad="228600" dist="762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223" name=""/>
          <p:cNvPicPr>
            <a:picLocks noChangeAspect="1"/>
          </p:cNvPicPr>
          <p:nvPr/>
        </p:nvPicPr>
        <p:blipFill>
          <a:blip r:embed="rId2"/>
          <a:srcRect l="19536" t="0" r="19536" b="0"/>
          <a:stretch>
            <a:fillRect/>
          </a:stretch>
        </p:blipFill>
        <p:spPr>
          <a:xfrm rot="0" flipH="0" flipV="0">
            <a:off x="4333875" y="1219200"/>
            <a:ext cx="3524250" cy="2857500"/>
          </a:xfrm>
          <a:custGeom>
            <a:pathLst>
              <a:path w="370" h="300">
                <a:moveTo>
                  <a:pt x="360" y="0"/>
                </a:moveTo>
                <a:cubicBezTo>
                  <a:pt x="366" y="0"/>
                  <a:pt x="370" y="5"/>
                  <a:pt x="370" y="10"/>
                </a:cubicBezTo>
                <a:lnTo>
                  <a:pt x="370" y="290"/>
                </a:lnTo>
                <a:cubicBezTo>
                  <a:pt x="370" y="296"/>
                  <a:pt x="366" y="300"/>
                  <a:pt x="360" y="300"/>
                </a:cubicBezTo>
                <a:lnTo>
                  <a:pt x="10" y="300"/>
                </a:lnTo>
                <a:cubicBezTo>
                  <a:pt x="4" y="300"/>
                  <a:pt x="0" y="296"/>
                  <a:pt x="0" y="290"/>
                </a:cubicBezTo>
                <a:lnTo>
                  <a:pt x="0" y="10"/>
                </a:lnTo>
                <a:cubicBezTo>
                  <a:pt x="0" y="4"/>
                  <a:pt x="4" y="0"/>
                  <a:pt x="10" y="0"/>
                </a:cubicBezTo>
                <a:lnTo>
                  <a:pt x="360" y="0"/>
                </a:lnTo>
                <a:close/>
              </a:path>
            </a:pathLst>
          </a:custGeom>
          <a:ln/>
        </p:spPr>
      </p:pic>
      <p:sp>
        <p:nvSpPr>
          <p:cNvPr id="224" name=""/>
          <p:cNvSpPr/>
          <p:nvPr/>
        </p:nvSpPr>
        <p:spPr>
          <a:xfrm rot="0" flipH="0" flipV="0">
            <a:off x="7972425" y="1219200"/>
            <a:ext cx="3533775" cy="2857500"/>
          </a:xfrm>
          <a:prstGeom prst="roundRect">
            <a:avLst>
              <a:gd name="adj" fmla="val 3333"/>
            </a:avLst>
          </a:prstGeom>
          <a:ln/>
          <a:effectLst>
            <a:outerShdw blurRad="228600" dist="762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225" name=""/>
          <p:cNvPicPr>
            <a:picLocks noChangeAspect="1"/>
          </p:cNvPicPr>
          <p:nvPr/>
        </p:nvPicPr>
        <p:blipFill>
          <a:blip r:embed="rId3"/>
          <a:srcRect l="19454" t="0" r="19454" b="0"/>
          <a:stretch>
            <a:fillRect/>
          </a:stretch>
        </p:blipFill>
        <p:spPr>
          <a:xfrm rot="0" flipH="0" flipV="0">
            <a:off x="7972425" y="1219200"/>
            <a:ext cx="3533775" cy="2857500"/>
          </a:xfrm>
          <a:custGeom>
            <a:pathLst>
              <a:path w="371" h="300">
                <a:moveTo>
                  <a:pt x="361" y="0"/>
                </a:moveTo>
                <a:cubicBezTo>
                  <a:pt x="367" y="0"/>
                  <a:pt x="371" y="5"/>
                  <a:pt x="371" y="10"/>
                </a:cubicBezTo>
                <a:lnTo>
                  <a:pt x="371" y="290"/>
                </a:lnTo>
                <a:cubicBezTo>
                  <a:pt x="371" y="296"/>
                  <a:pt x="367" y="300"/>
                  <a:pt x="361" y="300"/>
                </a:cubicBezTo>
                <a:lnTo>
                  <a:pt x="10" y="300"/>
                </a:lnTo>
                <a:cubicBezTo>
                  <a:pt x="4" y="300"/>
                  <a:pt x="0" y="296"/>
                  <a:pt x="0" y="290"/>
                </a:cubicBezTo>
                <a:lnTo>
                  <a:pt x="0" y="10"/>
                </a:lnTo>
                <a:cubicBezTo>
                  <a:pt x="0" y="4"/>
                  <a:pt x="4" y="0"/>
                  <a:pt x="10" y="0"/>
                </a:cubicBezTo>
                <a:lnTo>
                  <a:pt x="361" y="0"/>
                </a:lnTo>
                <a:close/>
              </a:path>
            </a:pathLst>
          </a:custGeom>
          <a:ln/>
        </p:spPr>
      </p:pic>
      <p:sp>
        <p:nvSpPr>
          <p:cNvPr id="226" name=""/>
          <p:cNvSpPr/>
          <p:nvPr/>
        </p:nvSpPr>
        <p:spPr>
          <a:xfrm rot="0" flipH="0" flipV="0">
            <a:off x="685800" y="4533900"/>
            <a:ext cx="2609850" cy="933450"/>
          </a:xfrm>
          <a:prstGeom prst="roundRect">
            <a:avLst>
              <a:gd name="adj" fmla="val 12245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1666875" y="4667250"/>
            <a:ext cx="6477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59E0B"/>
                </a:solidFill>
                <a:latin typeface="Microsoft YaHei"/>
                <a:ea typeface="Microsoft YaHei"/>
              </a:rPr>
              <a:t>57</a:t>
            </a:r>
            <a:r>
              <a:rPr lang="en-US" sz="1350" b="1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lang="zh-CN" sz="1350" b="1">
                <a:solidFill>
                  <a:srgbClr val="64748B"/>
                </a:solidFill>
                <a:latin typeface="Microsoft YaHei"/>
                <a:ea typeface="Microsoft YaHei"/>
              </a:rPr>
              <a:t>页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1257300" y="5181600"/>
            <a:ext cx="14668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MyBatis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事务规范真实导入</a:t>
            </a:r>
            <a:endParaRPr/>
          </a:p>
        </p:txBody>
      </p:sp>
      <p:sp>
        <p:nvSpPr>
          <p:cNvPr id="229" name=""/>
          <p:cNvSpPr/>
          <p:nvPr/>
        </p:nvSpPr>
        <p:spPr>
          <a:xfrm rot="0" flipH="0" flipV="0">
            <a:off x="3429000" y="4533900"/>
            <a:ext cx="2600325" cy="933450"/>
          </a:xfrm>
          <a:prstGeom prst="roundRect">
            <a:avLst>
              <a:gd name="adj" fmla="val 12245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4238625" y="4667250"/>
            <a:ext cx="9906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59E0B"/>
                </a:solidFill>
                <a:latin typeface="Microsoft YaHei"/>
                <a:ea typeface="Microsoft YaHei"/>
              </a:rPr>
              <a:t>80</a:t>
            </a:r>
            <a:r>
              <a:rPr lang="en-US" sz="1350" b="1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lang="zh-CN" sz="1350" b="1">
                <a:solidFill>
                  <a:srgbClr val="64748B"/>
                </a:solidFill>
                <a:latin typeface="Microsoft YaHei"/>
                <a:ea typeface="Microsoft YaHei"/>
              </a:rPr>
              <a:t>来源块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4171950" y="5181600"/>
            <a:ext cx="11144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分块索引与引用定位</a:t>
            </a:r>
            <a:endParaRPr/>
          </a:p>
        </p:txBody>
      </p:sp>
      <p:sp>
        <p:nvSpPr>
          <p:cNvPr id="232" name=""/>
          <p:cNvSpPr/>
          <p:nvPr/>
        </p:nvSpPr>
        <p:spPr>
          <a:xfrm rot="0" flipH="0" flipV="0">
            <a:off x="6162675" y="4533900"/>
            <a:ext cx="2609850" cy="933450"/>
          </a:xfrm>
          <a:prstGeom prst="roundRect">
            <a:avLst>
              <a:gd name="adj" fmla="val 12245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7162800" y="4667250"/>
            <a:ext cx="6096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59E0B"/>
                </a:solidFill>
                <a:latin typeface="Microsoft YaHei"/>
                <a:ea typeface="Microsoft YaHei"/>
              </a:rPr>
              <a:t>4</a:t>
            </a:r>
            <a:r>
              <a:rPr lang="en-US" sz="1350" b="1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lang="zh-CN" sz="1350" b="1">
                <a:solidFill>
                  <a:srgbClr val="64748B"/>
                </a:solidFill>
                <a:latin typeface="Microsoft YaHei"/>
                <a:ea typeface="Microsoft YaHei"/>
              </a:rPr>
              <a:t>阶段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6972300" y="5181600"/>
            <a:ext cx="9906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画像驱动精读路线</a:t>
            </a:r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8905875" y="4533900"/>
            <a:ext cx="2600325" cy="933450"/>
          </a:xfrm>
          <a:prstGeom prst="roundRect">
            <a:avLst>
              <a:gd name="adj" fmla="val 12245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9801225" y="4667250"/>
            <a:ext cx="8191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59E0B"/>
                </a:solidFill>
                <a:latin typeface="Microsoft YaHei"/>
                <a:ea typeface="Microsoft YaHei"/>
              </a:rPr>
              <a:t>64</a:t>
            </a:r>
            <a:r>
              <a:rPr lang="en-US" sz="1350" b="1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lang="zh-CN" sz="1350" b="1">
                <a:solidFill>
                  <a:srgbClr val="64748B"/>
                </a:solidFill>
                <a:latin typeface="Microsoft YaHei"/>
                <a:ea typeface="Microsoft YaHei"/>
              </a:rPr>
              <a:t>测试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9744075" y="5181600"/>
            <a:ext cx="9239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17 </a:t>
            </a:r>
            <a:r>
              <a:rPr lang="zh-CN" sz="975">
                <a:solidFill>
                  <a:srgbClr val="64748B"/>
                </a:solidFill>
                <a:latin typeface="Microsoft YaHei"/>
                <a:ea typeface="Microsoft YaHei"/>
              </a:rPr>
              <a:t>文件全部通过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685800" y="5581650"/>
            <a:ext cx="5353050" cy="390525"/>
          </a:xfrm>
          <a:prstGeom prst="roundRect">
            <a:avLst>
              <a:gd name="adj" fmla="val 24390"/>
            </a:avLst>
          </a:prstGeom>
          <a:solidFill>
            <a:srgbClr val="1E3A5F"/>
          </a:solidFill>
          <a:ln/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838200" y="5695950"/>
            <a:ext cx="5048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59E0B"/>
                </a:solidFill>
                <a:latin typeface="Microsoft YaHei"/>
                <a:ea typeface="Microsoft YaHei"/>
              </a:rPr>
              <a:t>1426 </a:t>
            </a:r>
            <a:r>
              <a:rPr lang="zh-CN" sz="1050" b="1">
                <a:solidFill>
                  <a:srgbClr val="F59E0B"/>
                </a:solidFill>
                <a:latin typeface="Microsoft YaHei"/>
                <a:ea typeface="Microsoft YaHei"/>
              </a:rPr>
              <a:t>字</a:t>
            </a: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> AI 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草稿</a:t>
            </a: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> → 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人工校订</a:t>
            </a: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> → </a:t>
            </a:r>
            <a:r>
              <a:rPr lang="en-US" sz="1050" b="1">
                <a:solidFill>
                  <a:srgbClr val="F59E0B"/>
                </a:solidFill>
                <a:latin typeface="Microsoft YaHei"/>
                <a:ea typeface="Microsoft YaHei"/>
              </a:rPr>
              <a:t>219 </a:t>
            </a:r>
            <a:r>
              <a:rPr lang="zh-CN" sz="1050" b="1">
                <a:solidFill>
                  <a:srgbClr val="F59E0B"/>
                </a:solidFill>
                <a:latin typeface="Microsoft YaHei"/>
                <a:ea typeface="Microsoft YaHei"/>
              </a:rPr>
              <a:t>字</a:t>
            </a:r>
            <a:r>
              <a:rPr lang="en-US" sz="1050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核对版</a:t>
            </a:r>
            <a:endParaRPr/>
          </a:p>
        </p:txBody>
      </p:sp>
      <p:sp>
        <p:nvSpPr>
          <p:cNvPr id="240" name=""/>
          <p:cNvSpPr/>
          <p:nvPr/>
        </p:nvSpPr>
        <p:spPr>
          <a:xfrm rot="0" flipH="0" flipV="0">
            <a:off x="6153150" y="5591175"/>
            <a:ext cx="5353050" cy="381000"/>
          </a:xfrm>
          <a:prstGeom prst="roundRect">
            <a:avLst>
              <a:gd name="adj" fmla="val 25000"/>
            </a:avLst>
          </a:prstGeom>
          <a:solidFill>
            <a:srgbClr val="FFF7ED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6305550" y="5705475"/>
            <a:ext cx="5048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2400E"/>
                </a:solidFill>
                <a:latin typeface="Microsoft YaHei"/>
                <a:ea typeface="Microsoft YaHei"/>
              </a:rPr>
              <a:t>生产构建通过</a:t>
            </a:r>
            <a:r>
              <a:rPr lang="en-US" sz="975">
                <a:solidFill>
                  <a:srgbClr val="92400E"/>
                </a:solidFill>
                <a:latin typeface="Microsoft YaHei"/>
                <a:ea typeface="Microsoft YaHei"/>
              </a:rPr>
              <a:t> · 0 </a:t>
            </a:r>
            <a:r>
              <a:rPr lang="zh-CN" sz="975">
                <a:solidFill>
                  <a:srgbClr val="92400E"/>
                </a:solidFill>
                <a:latin typeface="Microsoft YaHei"/>
                <a:ea typeface="Microsoft YaHei"/>
              </a:rPr>
              <a:t>已知漏洞</a:t>
            </a:r>
            <a:r>
              <a:rPr lang="en-US" sz="975">
                <a:solidFill>
                  <a:srgbClr val="92400E"/>
                </a:solidFill>
                <a:latin typeface="Microsoft YaHei"/>
                <a:ea typeface="Microsoft YaHei"/>
              </a:rPr>
              <a:t> · 390px </a:t>
            </a:r>
            <a:r>
              <a:rPr lang="zh-CN" sz="975">
                <a:solidFill>
                  <a:srgbClr val="92400E"/>
                </a:solidFill>
                <a:latin typeface="Microsoft YaHei"/>
                <a:ea typeface="Microsoft YaHei"/>
              </a:rPr>
              <a:t>无横向溢出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685800" y="650557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Lumen ·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技术文档精读助手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11096625" y="65055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07 / 10</a:t>
            </a:r>
            <a:endParaRPr/>
          </a:p>
        </p:txBody>
      </p:sp>
    </p:spTree>
  </p:cSld>
</p:sld>
</file>

<file path=ppt/slides/slide8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44" name="" descr="&lt;Slide&#10;  notes={`&#10;    AI 工具这块我想如实讲。前期工程、设计文档、架构、代码，基本是用 Codex 加 GPT-5.6-sol 完成的。但功能取舍是我来拍板、让 AI 去调研和纠错的。页面排版这块是我自己做的，也是我投入和返工最多的地方。最后收尾的文档整理和这份 PPT 是 WorkBuddy 做的。&#10;`}&#10;&gt;&#10;  &lt;Box style={{ width: '100%', height: '100%', paddingTop: 0 }}&gt;&#10;    {/* A 区 标题块 */}&#10;    &lt;Box style={{ height: 110, justifyContent: 'center', paddingLeft: 72, paddingRight: 72, borderBottom: '2px solid #E2E8F0' }}&gt;&#10;      &lt;Box style={{ flexDirection: 'row', alignItems: 'center', justifyContent: 'space-between' }}&gt;&#10;        &lt;Text style={{ fontSize: 32, fontWeight: 'bold', color: '#1E3A5F' }}&gt;AI 是主力，但作用在刀刃上&lt;/Text&gt;&#10;        &lt;Text style={{ fontSize: 14, color: '#64748B' }}&gt;08 AI 工具使用过程&lt;/Text&gt;&#10;      &lt;/Box&gt;&#10;    &lt;/Box&gt;&#10;&#10;    {/* B 区 左清单 + 右分工 */}&#10;    &lt;Box style={{ height: 550, flexDirection: 'row', paddingLeft: 72, paddingRight: 72, paddingTop: 24, gap: 24 }}&gt;&#10;      {/* 左 55% 工具与环节 */}&#10;      &lt;Box style={{ flex: 1.15, flexDirection: 'column', gap: 12 }}&gt;&#10;        &lt;Text style={{ fontSize: 18, fontWeight: 'bold', color: '#3B82F6' }}&gt;工具清单与使用环节&lt;/Text&gt;&#10;        &lt;Box style={{ background: '#F8FAFC', borderRadius: 12, padding: '16px 18px' }}&gt;&#10;          &lt;Box style={{ flexDirection: 'row', alignItems: 'center', gap: 10 }}&gt;&#10;            &lt;FAIcon name='robot' style={{ fill: '#3B82F6', width: 22, height: 22 }} /&gt;&#10;            &lt;Text style={{ fontSize: 16, fontWeight: 'bold', color: '#1E3A5F' }}&gt;Codex + GPT-5.6-sol（前期主力）&lt;/Text&gt;&#10;          &lt;/Box&gt;&#10;          &lt;Text style={{ fontSize: 14, color: '#334155', lineHeight: 1.7, marginTop: 10 }}&gt;&#10;            工程搭建 · 设计文档撰写 · 文档整理 · 架构设计 · 代码开发 · 收尾交付&#10;          &lt;/Text&gt;&#10;        &lt;/Box&gt;&#10;        &lt;Box style={{ background: '#F8FAFC', borderRadius: 12, padding: '16px 18px' }}&gt;&#10;          &lt;Box style={{ flexDirection: 'row', alignItems: 'center', gap: 10 }}&gt;&#10;            &lt;FAIcon name='file-pen' style={{ fill: '#F59E0B', width: 22, height: 22 }} /&gt;&#10;            &lt;Text style={{ fontSize: 16, fontWeight: 'bold', color: '#1E3A5F' }}&gt;WorkBuddy（收尾）&lt;/Text&gt;&#10;          &lt;/Box&gt;&#10;          &lt;Text style={{ fontSize: 14, color: '#334155', lineHeight: 1.7, marginTop: 10 }}&gt;&#10;            收尾文档整理 · 本份 PPT 生成 · 真实截图采集&#10;          &lt;/Text&gt;&#10;        &lt;/Box&gt;&#10;        &lt;Box style={{ background: '#DBEAFE', borderRadius: 12, padding: '16px 18px' }}&gt;&#10;          &lt;Box style={{ flexDirection: 'row', alignItems: 'center', gap: 10 }}&gt;&#10;            &lt;FAIcon name='lightbulb' style={{ fill: '#1E3A5F', width: 22, height: 22 }} /&gt;&#10;            &lt;Text style={{ fontSize: 16, fontWeight: 'bold', color: '#1E3A5F' }}&gt;用户本人（核心决策）&lt;/Text&gt;&#10;          &lt;/Box&gt;&#10;          &lt;Text style={{ fontSize: 14, color: '#334155', lineHeight: 1.7, marginTop: 10 }}&gt;&#10;            功能需求 / 想法取舍由我提出，让 AI 调研、扩充、优化、纠错&#10;          &lt;/Text&gt;&#10;        &lt;/Box&gt;&#10;      &lt;/Box&gt;&#10;&#10;      {/* 右 45% 必须自己来 */}&#10;      &lt;Box style={{ flex: 0.9, flexDirection: 'column', gap: 14 }}&gt;&#10;        &lt;Box style={{ background: '#1E3A5F', borderRadius: 12, padding: '22px 22px', flex: 1, justifyContent: 'center' }}&gt;&#10;          &lt;Text style={{ fontSize: 18, fontWeight: 'bold', color: '#FFFFFF' }}&gt;哪些环节必须自己来&lt;/Text&gt;&#10;          &lt;Box style={{ flexDirection: 'column', gap: 12, marginTop: 14 }}&gt;&#10;            {[&#10;              { icon: 'compass', t: '产品判断', d: '方向是否成立、该不该做' },&#10;              { icon: 'balance-scale', t: '范围取舍', d: '哪些进首版、哪些果断不做' },&#10;              { icon: 'eye', t: '真实浏览器验证', d: 'AI 无法替代实机走查' },&#10;              { icon: 'layout', t: '页面排版', d: '投入与返工最多的环节' },&#10;            ].map((item, idx) =&gt; (&#10;              &lt;Box key={idx} style={{ flexDirection: 'row', alignItems: 'center', gap: 12 }}&gt;&#10;                &lt;FAIcon name={item.icon} style={{ fill: '#F59E0B', width: 20, height: 20 }} /&gt;&#10;                &lt;Box style={{ flex: 1 }}&gt;&#10;                  &lt;Text style={{ fontSize: 15, fontWeight: 'bold', color: '#FFFFFF' }}&gt;{item.t}&lt;/Text&gt;&#10;                  &lt;Text style={{ fontSize: 13, color: '#CBD5E1', lineHeight: 1.4 }}&gt;{item.d}&lt;/Text&gt;&#10;                &lt;/Box&gt;&#10;              &lt;/Box&gt;&#10;            ))}&#10;          &lt;/Box&gt;&#10;        &lt;/Box&gt;&#10;        &lt;Box style={{ background: '#F0FDF4', borderRadius: 10, padding: '12px 14px', border: '1px solid #BBF7D0' }}&gt;&#10;          &lt;Text style={{ fontSize: 13, color: '#166534', lineHeight: 1.6 }}&gt;&#10;            &lt;span style={{ fontWeight: 'bold' }}&gt;经验：&lt;/span&gt;AI 适合高频、可校验的体力与脑力，取舍与边界必须人来定。&#10;          &lt;/Text&gt;&#10;        &lt;/Box&gt;&#10;      &lt;/Box&gt;&#10;    &lt;/Box&gt;&#10;&#10;    {/* C 区 页脚 */}&#10;    &lt;Box style={{ position: 'absolute', left: 72, right: 72, bottom: 20, flexDirection: 'row', justifyContent: 'space-between' }}&gt;&#10;      &lt;Text style={{ fontSize: 14, color: '#94A3B8' }}&gt;Lumen · 技术文档精读助手&lt;/Text&gt;&#10;      &lt;Text style={{ fontSize: 14, color: '#94A3B8' }}&gt;08 / 10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"/>
          <p:cNvSpPr/>
          <p:nvPr/>
        </p:nvSpPr>
        <p:spPr>
          <a:xfrm rot="0" flipH="0" flipV="0">
            <a:off x="0" y="0"/>
            <a:ext cx="12192000" cy="1047750"/>
          </a:xfrm>
          <a:custGeom>
            <a:pathLst>
              <a:path w="1280" h="110">
                <a:moveTo>
                  <a:pt x="0" y="108"/>
                </a:moveTo>
                <a:lnTo>
                  <a:pt x="1280" y="108"/>
                </a:lnTo>
                <a:lnTo>
                  <a:pt x="1280" y="110"/>
                </a:lnTo>
                <a:lnTo>
                  <a:pt x="0" y="110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685800" y="333375"/>
            <a:ext cx="374332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1E3A5F"/>
                </a:solidFill>
                <a:latin typeface="Microsoft YaHei"/>
                <a:ea typeface="Microsoft YaHei"/>
              </a:rPr>
              <a:t>AI </a:t>
            </a:r>
            <a:r>
              <a:rPr lang="zh-CN" sz="2400" b="1">
                <a:solidFill>
                  <a:srgbClr val="1E3A5F"/>
                </a:solidFill>
                <a:latin typeface="Microsoft YaHei"/>
                <a:ea typeface="Microsoft YaHei"/>
              </a:rPr>
              <a:t>是主力，但作用在刀刃上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10353675" y="438150"/>
            <a:ext cx="1152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08 AI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工具使用过程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685800" y="1276350"/>
            <a:ext cx="5943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3B82F6"/>
                </a:solidFill>
                <a:latin typeface="Microsoft YaHei"/>
                <a:ea typeface="Microsoft YaHei"/>
              </a:rPr>
              <a:t>工具清单与使用环节</a:t>
            </a:r>
            <a:endParaRPr/>
          </a:p>
        </p:txBody>
      </p:sp>
      <p:sp>
        <p:nvSpPr>
          <p:cNvPr id="249" name=""/>
          <p:cNvSpPr/>
          <p:nvPr/>
        </p:nvSpPr>
        <p:spPr>
          <a:xfrm rot="0" flipH="0" flipV="0">
            <a:off x="685800" y="1600200"/>
            <a:ext cx="5943600" cy="885825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/>
        </p:spPr>
        <p:txBody>
          <a:bodyPr/>
          <a:p/>
        </p:txBody>
      </p:sp>
      <p:pic>
        <p:nvPicPr>
          <p:cNvPr id="25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57250" y="1752600"/>
            <a:ext cx="209550" cy="209550"/>
          </a:xfrm>
          <a:prstGeom prst="rect">
            <a:avLst/>
          </a:prstGeom>
          <a:ln/>
        </p:spPr>
      </p:pic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1162050" y="1762125"/>
            <a:ext cx="2400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3A5F"/>
                </a:solidFill>
                <a:latin typeface="Microsoft YaHei"/>
                <a:ea typeface="Microsoft YaHei"/>
              </a:rPr>
              <a:t>Codex + GPT-5.6-sol</a:t>
            </a:r>
            <a:r>
              <a:rPr lang="zh-CN" sz="1200" b="1">
                <a:solidFill>
                  <a:srgbClr val="1E3A5F"/>
                </a:solidFill>
                <a:latin typeface="Microsoft YaHei"/>
                <a:ea typeface="Microsoft YaHei"/>
              </a:rPr>
              <a:t>（前期主力）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857250" y="2057400"/>
            <a:ext cx="5600700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工程搭建</a:t>
            </a:r>
            <a:r>
              <a:rPr lang="en-US" sz="1050">
                <a:solidFill>
                  <a:srgbClr val="33415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设计文档撰写</a:t>
            </a:r>
            <a:r>
              <a:rPr lang="en-US" sz="1050">
                <a:solidFill>
                  <a:srgbClr val="33415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文档整理</a:t>
            </a:r>
            <a:r>
              <a:rPr lang="en-US" sz="1050">
                <a:solidFill>
                  <a:srgbClr val="33415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架构设计</a:t>
            </a:r>
            <a:r>
              <a:rPr lang="en-US" sz="1050">
                <a:solidFill>
                  <a:srgbClr val="33415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代码开发</a:t>
            </a:r>
            <a:r>
              <a:rPr lang="en-US" sz="1050">
                <a:solidFill>
                  <a:srgbClr val="33415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收尾交付</a:t>
            </a:r>
            <a:endParaRPr/>
          </a:p>
        </p:txBody>
      </p:sp>
      <p:sp>
        <p:nvSpPr>
          <p:cNvPr id="253" name=""/>
          <p:cNvSpPr/>
          <p:nvPr/>
        </p:nvSpPr>
        <p:spPr>
          <a:xfrm rot="0" flipH="0" flipV="0">
            <a:off x="685800" y="2600325"/>
            <a:ext cx="5943600" cy="885825"/>
          </a:xfrm>
          <a:prstGeom prst="roundRect">
            <a:avLst>
              <a:gd name="adj" fmla="val 12903"/>
            </a:avLst>
          </a:prstGeom>
          <a:solidFill>
            <a:srgbClr val="F8FAFC"/>
          </a:solidFill>
          <a:ln/>
        </p:spPr>
        <p:txBody>
          <a:bodyPr/>
          <a:p/>
        </p:txBody>
      </p:sp>
      <p:pic>
        <p:nvPicPr>
          <p:cNvPr id="25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57250" y="2752725"/>
            <a:ext cx="209550" cy="209550"/>
          </a:xfrm>
          <a:prstGeom prst="rect">
            <a:avLst/>
          </a:prstGeom>
          <a:ln/>
        </p:spPr>
      </p:pic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1162050" y="2762250"/>
            <a:ext cx="1466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3A5F"/>
                </a:solidFill>
                <a:latin typeface="Microsoft YaHei"/>
                <a:ea typeface="Microsoft YaHei"/>
              </a:rPr>
              <a:t>WorkBuddy</a:t>
            </a:r>
            <a:r>
              <a:rPr lang="zh-CN" sz="1200" b="1">
                <a:solidFill>
                  <a:srgbClr val="1E3A5F"/>
                </a:solidFill>
                <a:latin typeface="Microsoft YaHei"/>
                <a:ea typeface="Microsoft YaHei"/>
              </a:rPr>
              <a:t>（收尾）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857250" y="3057525"/>
            <a:ext cx="5600700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收尾文档整理</a:t>
            </a:r>
            <a:r>
              <a:rPr lang="en-US" sz="1050">
                <a:solidFill>
                  <a:srgbClr val="33415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本份</a:t>
            </a:r>
            <a:r>
              <a:rPr lang="en-US" sz="1050">
                <a:solidFill>
                  <a:srgbClr val="334155"/>
                </a:solidFill>
                <a:latin typeface="Microsoft YaHei"/>
                <a:ea typeface="Microsoft YaHei"/>
              </a:rPr>
              <a:t> PPT </a:t>
            </a: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生成</a:t>
            </a:r>
            <a:r>
              <a:rPr lang="en-US" sz="1050">
                <a:solidFill>
                  <a:srgbClr val="33415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真实截图采集</a:t>
            </a:r>
            <a:endParaRPr/>
          </a:p>
        </p:txBody>
      </p:sp>
      <p:sp>
        <p:nvSpPr>
          <p:cNvPr id="257" name=""/>
          <p:cNvSpPr/>
          <p:nvPr/>
        </p:nvSpPr>
        <p:spPr>
          <a:xfrm rot="0" flipH="0" flipV="0">
            <a:off x="685800" y="3600450"/>
            <a:ext cx="5943600" cy="885825"/>
          </a:xfrm>
          <a:prstGeom prst="roundRect">
            <a:avLst>
              <a:gd name="adj" fmla="val 12903"/>
            </a:avLst>
          </a:prstGeom>
          <a:solidFill>
            <a:srgbClr val="DBEAFE"/>
          </a:solidFill>
          <a:ln/>
        </p:spPr>
        <p:txBody>
          <a:bodyPr/>
          <a:p/>
        </p:txBody>
      </p:sp>
      <p:pic>
        <p:nvPicPr>
          <p:cNvPr id="25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57250" y="3752850"/>
            <a:ext cx="209550" cy="209550"/>
          </a:xfrm>
          <a:prstGeom prst="rect">
            <a:avLst/>
          </a:prstGeom>
          <a:ln/>
        </p:spPr>
      </p:pic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1162050" y="3762375"/>
            <a:ext cx="1524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3A5F"/>
                </a:solidFill>
                <a:latin typeface="Microsoft YaHei"/>
                <a:ea typeface="Microsoft YaHei"/>
              </a:rPr>
              <a:t>用户本人（核心决策）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857250" y="4057650"/>
            <a:ext cx="5600700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功能需求</a:t>
            </a:r>
            <a:r>
              <a:rPr lang="en-US" sz="1050">
                <a:solidFill>
                  <a:srgbClr val="334155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想法取舍由我提出，让</a:t>
            </a:r>
            <a:r>
              <a:rPr lang="en-US" sz="1050">
                <a:solidFill>
                  <a:srgbClr val="334155"/>
                </a:solidFill>
                <a:latin typeface="Microsoft YaHei"/>
                <a:ea typeface="Microsoft YaHei"/>
              </a:rPr>
              <a:t> AI </a:t>
            </a: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调研、扩充、优化、纠错</a:t>
            </a:r>
            <a:endParaRPr/>
          </a:p>
        </p:txBody>
      </p:sp>
      <p:sp>
        <p:nvSpPr>
          <p:cNvPr id="261" name=""/>
          <p:cNvSpPr/>
          <p:nvPr/>
        </p:nvSpPr>
        <p:spPr>
          <a:xfrm rot="0" flipH="0" flipV="0">
            <a:off x="6858000" y="1276350"/>
            <a:ext cx="4648200" cy="4410075"/>
          </a:xfrm>
          <a:prstGeom prst="roundRect">
            <a:avLst>
              <a:gd name="adj" fmla="val 2592"/>
            </a:avLst>
          </a:prstGeom>
          <a:solidFill>
            <a:srgbClr val="1E3A5F"/>
          </a:solidFill>
          <a:ln/>
        </p:spPr>
        <p:txBody>
          <a:bodyPr/>
          <a:p/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7067550" y="2381250"/>
            <a:ext cx="4229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哪些环节必须自己来</a:t>
            </a:r>
            <a:endParaRPr/>
          </a:p>
        </p:txBody>
      </p:sp>
      <p:pic>
        <p:nvPicPr>
          <p:cNvPr id="26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067550" y="2819400"/>
            <a:ext cx="190500" cy="190500"/>
          </a:xfrm>
          <a:prstGeom prst="rect">
            <a:avLst/>
          </a:prstGeom>
          <a:ln/>
        </p:spPr>
      </p:pic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7372350" y="2724150"/>
            <a:ext cx="3924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产品判断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7372350" y="2895600"/>
            <a:ext cx="39243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CBD5E1"/>
                </a:solidFill>
                <a:latin typeface="Microsoft YaHei"/>
                <a:ea typeface="Microsoft YaHei"/>
              </a:rPr>
              <a:t>方向是否成立、该不该做</a:t>
            </a:r>
            <a:endParaRPr/>
          </a:p>
        </p:txBody>
      </p:sp>
      <p:pic>
        <p:nvPicPr>
          <p:cNvPr id="26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067550" y="3314700"/>
            <a:ext cx="190500" cy="190500"/>
          </a:xfrm>
          <a:prstGeom prst="rect">
            <a:avLst/>
          </a:prstGeom>
          <a:ln/>
        </p:spPr>
      </p:pic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7372350" y="3219450"/>
            <a:ext cx="3924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范围取舍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7372350" y="3390900"/>
            <a:ext cx="39243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CBD5E1"/>
                </a:solidFill>
                <a:latin typeface="Microsoft YaHei"/>
                <a:ea typeface="Microsoft YaHei"/>
              </a:rPr>
              <a:t>哪些进首版、哪些果断不做</a:t>
            </a:r>
            <a:endParaRPr/>
          </a:p>
        </p:txBody>
      </p:sp>
      <p:pic>
        <p:nvPicPr>
          <p:cNvPr id="26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067550" y="3810000"/>
            <a:ext cx="190500" cy="190500"/>
          </a:xfrm>
          <a:prstGeom prst="rect">
            <a:avLst/>
          </a:prstGeom>
          <a:ln/>
        </p:spPr>
      </p:pic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7372350" y="3714750"/>
            <a:ext cx="3924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真实浏览器验证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7372350" y="3886200"/>
            <a:ext cx="39243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75">
                <a:solidFill>
                  <a:srgbClr val="CBD5E1"/>
                </a:solidFill>
                <a:latin typeface="Microsoft YaHei"/>
                <a:ea typeface="Microsoft YaHei"/>
              </a:rPr>
              <a:t>AI </a:t>
            </a:r>
            <a:r>
              <a:rPr lang="zh-CN" sz="975">
                <a:solidFill>
                  <a:srgbClr val="CBD5E1"/>
                </a:solidFill>
                <a:latin typeface="Microsoft YaHei"/>
                <a:ea typeface="Microsoft YaHei"/>
              </a:rPr>
              <a:t>无法替代实机走查</a:t>
            </a:r>
            <a:endParaRPr/>
          </a:p>
        </p:txBody>
      </p:sp>
      <p:pic>
        <p:nvPicPr>
          <p:cNvPr id="27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067550" y="4305300"/>
            <a:ext cx="190500" cy="190500"/>
          </a:xfrm>
          <a:prstGeom prst="rect">
            <a:avLst/>
          </a:prstGeom>
          <a:ln/>
        </p:spPr>
      </p:pic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7372350" y="4210050"/>
            <a:ext cx="3924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页面排版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7372350" y="4381500"/>
            <a:ext cx="39243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CBD5E1"/>
                </a:solidFill>
                <a:latin typeface="Microsoft YaHei"/>
                <a:ea typeface="Microsoft YaHei"/>
              </a:rPr>
              <a:t>投入与返工最多的环节</a:t>
            </a:r>
            <a:endParaRPr/>
          </a:p>
        </p:txBody>
      </p:sp>
      <p:sp>
        <p:nvSpPr>
          <p:cNvPr id="275" name=""/>
          <p:cNvSpPr/>
          <p:nvPr/>
        </p:nvSpPr>
        <p:spPr>
          <a:xfrm rot="0" flipH="0" flipV="0">
            <a:off x="6858000" y="5819775"/>
            <a:ext cx="4648200" cy="466725"/>
          </a:xfrm>
          <a:prstGeom prst="roundRect">
            <a:avLst>
              <a:gd name="adj" fmla="val 20408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p/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6991350" y="5934075"/>
            <a:ext cx="438150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 b="1">
                <a:solidFill>
                  <a:srgbClr val="166534"/>
                </a:solidFill>
                <a:latin typeface="Microsoft YaHei"/>
                <a:ea typeface="Microsoft YaHei"/>
              </a:rPr>
              <a:t>经验：</a:t>
            </a:r>
            <a:r>
              <a:rPr lang="en-US" sz="975">
                <a:solidFill>
                  <a:srgbClr val="166534"/>
                </a:solidFill>
                <a:latin typeface="Microsoft YaHei"/>
                <a:ea typeface="Microsoft YaHei"/>
              </a:rPr>
              <a:t>AI </a:t>
            </a:r>
            <a:r>
              <a:rPr lang="zh-CN" sz="975">
                <a:solidFill>
                  <a:srgbClr val="166534"/>
                </a:solidFill>
                <a:latin typeface="Microsoft YaHei"/>
                <a:ea typeface="Microsoft YaHei"/>
              </a:rPr>
              <a:t>适合高频、可校验的体力与脑力，取舍与边界必须人来定。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685800" y="650557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Lumen ·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技术文档精读助手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11096625" y="65055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08 / 10</a:t>
            </a:r>
            <a:endParaRPr/>
          </a:p>
        </p:txBody>
      </p:sp>
    </p:spTree>
  </p:cSld>
</p:sld>
</file>

<file path=ppt/slides/slide9.xml><?xml version="1.0" encoding="utf-8"?>
<p:sld xmlns:a16="http://schemas.microsoft.com/office/drawing/2014/main" xmlns:a="http://schemas.openxmlformats.org/drawingml/2006/main" xmlns:p="http://schemas.openxmlformats.org/presentationml/2006/main" xmlns:mc="http://schemas.openxmlformats.org/markup-compatibility/2006" mc:Ignorable="a16">
  <p:cSld>
    <p:spTree>
      <p:nvGrpSpPr>
        <p:cNvPr id="279" name="" descr="&lt;Slide&#10;  notes={`&#10;    这一页我想讲失败。最典型的是让模型逐字复述长目录，连续校验失败——后来我改成让模型返回稳定的 SC01 编号，再由服务端映射回真实标题。单次路线调用曾用 59 秒，交互完全不可接受，我关掉了 thinking 才降到 11 秒。还出现过讲解带进文档外事实，我用&quot;该文档规定&quot;的强制措辞压住了。&#10;`}&#10;&gt;&#10;  &lt;Box style={{ width: '100%', height: '100%', paddingTop: 0 }}&gt;&#10;    {/* A 区 标题块 */}&#10;    &lt;Box style={{ height: 110, justifyContent: 'center', paddingLeft: 72, paddingRight: 72, borderBottom: '2px solid #E2E8F0' }}&gt;&#10;      &lt;Box style={{ flexDirection: 'row', alignItems: 'center', justifyContent: 'space-between' }}&gt;&#10;        &lt;Text style={{ fontSize: 32, fontWeight: 'bold', color: '#1E3A5F' }}&gt;失败不是掩盖，是控制住的边界&lt;/Text&gt;&#10;        &lt;Text style={{ fontSize: 14, color: '#64748B' }}&gt;09 问题与失败尝试&lt;/Text&gt;&#10;      &lt;/Box&gt;&#10;    &lt;/Box&gt;&#10;&#10;    {/* B 区 非对称双栏 */}&#10;    &lt;Box style={{ height: 550, flexDirection: 'row', paddingLeft: 72, paddingRight: 72, paddingTop: 24, gap: 22 }}&gt;&#10;      {/* 左 60% 失败→解决 表格 */}&#10;      &lt;Box style={{ flex: 1.5, flexDirection: 'column', gap: 12 }}&gt;&#10;        &lt;Text style={{ fontSize: 18, fontWeight: 'bold', color: '#3B82F6' }}&gt;问题 / 失败 → 解决过程（有据可查）&lt;/Text&gt;&#10;        &lt;Table&#10;          style={{ width: '100%', flex: 1 }}&#10;          defaultTextStyle={{ fontSize: 13, textAlign: 'left', color: '#334155' }}&#10;          defaultCellStyle={{&#10;            border: {&#10;              left: { width: 1, color: '#E2E8F0' },&#10;              right: { width: 1, color: '#E2E8F0' },&#10;              top: { width: 1, color: '#E2E8F0' },&#10;              bottom: { width: 1, color: '#E2E8F0' },&#10;            },&#10;            padding: '8px',&#10;          }}&#10;          cells={[&#10;            [&#10;              { text: '问题 / 失败', textStyle: { fontWeight: 'bold', color: '#FFFFFF' }, cellStyle: { background: { color: '#1E3A5F' } } },&#10;              { text: '解决', textStyle: { fontWeight: 'bold', color: '#FFFFFF' }, cellStyle: { background: { color: '#1E3A5F' } } },&#10;            ],&#10;            ['复述长目录连续失败', '改 SC01 稳定编号，服务端映射回真实标题'],&#10;            ['单次调用 59 秒', '地图与讲解关闭 Qwen thinking，降到 11 秒'],&#10;            ['讲解混入文档外事实', '强制「该文档规定」措辞，不加来源外事实'],&#10;            ['SSRF 与开发网络冲突', '不放松白名单，本地改用文件上传'],&#10;            ['316 页 576,976 字符', '允许规模判断，索引块截断并告警'],&#10;            ['127.0.0.1 同源误判', '改用请求 Host + 协议重建外部原点'],&#10;            ['Redis 选型后主动放弃', '暂不引入，保留内存边界，不谎称支持重启恢复'],&#10;            ['API key 曾暴露', '列入待办轮换，本次截图规避不泄露'],&#10;          ]}&#10;        /&gt;&#10;      &lt;/Box&gt;&#10;&#10;      {/* 右 40% 重大转型 + 价值 */}&#10;      &lt;Box style={{ flex: 0.85, flexDirection: 'column', gap: 14 }}&gt;&#10;        &lt;Box style={{ background: 'linear-gradient(135deg, #F59E0B 0%, #F97316 100%)', borderRadius: 12, padding: '22px 20px', flex: 1, justifyContent: 'center' }}&gt;&#10;          &lt;Text style={{ fontSize: 15, fontWeight: 'bold', color: '#FFFFFF', letterSpacing: 2 }}&gt;一次果断的刹停&lt;/Text&gt;&#10;          &lt;Text style={{ fontSize: 20, fontWeight: 'bold', color: '#FFFFFF', lineHeight: 1.5, marginTop: 12 }}&gt;&#10;            正式开发前，把「通用课程学习助手」&lt;br /&gt;改为「技术文档精读助手」&#10;          &lt;/Text&gt;&#10;          &lt;Box style={{ height: 2, background: 'rgba(255,255,255,0.4)', width: '40%', marginVertical: 14 }} /&gt;&#10;          &lt;Text style={{ fontSize: 14, color: '#FFF7ED', lineHeight: 1.6 }}&gt;&#10;            泛化方向过宽 → 主动收窄到「开发者精读陌生技术规范」，用户、材料、任务、成果都更明确，避免了后续失控。&#10;          &lt;/Text&gt;&#10;        &lt;/Box&gt;&#10;        &lt;Box style={{ background: '#F8FAFC', borderRadius: 10, padding: '12px 14px' }}&gt;&#10;          &lt;Text style={{ fontSize: 13, color: '#334155', lineHeight: 1.6 }}&gt;&#10;            &lt;span style={{ fontWeight: 'bold', color: '#1E3A5F' }}&gt;价值：&lt;/span&gt;失败被如实记录在决策与验收文档，20 条决策全部有据可查。&#10;          &lt;/Text&gt;&#10;        &lt;/Box&gt;&#10;      &lt;/Box&gt;&#10;    &lt;/Box&gt;&#10;&#10;    {/* C 区 页脚 */}&#10;    &lt;Box style={{ position: 'absolute', left: 72, right: 72, bottom: 20, flexDirection: 'row', justifyContent: 'space-between' }}&gt;&#10;      &lt;Text style={{ fontSize: 14, color: '#94A3B8' }}&gt;Lumen · 技术文档精读助手&lt;/Text&gt;&#10;      &lt;Text style={{ fontSize: 14, color: '#94A3B8' }}&gt;09 / 10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"/>
          <p:cNvSpPr/>
          <p:nvPr/>
        </p:nvSpPr>
        <p:spPr>
          <a:xfrm rot="0" flipH="0" flipV="0">
            <a:off x="0" y="0"/>
            <a:ext cx="12192000" cy="1047750"/>
          </a:xfrm>
          <a:custGeom>
            <a:pathLst>
              <a:path w="1280" h="110">
                <a:moveTo>
                  <a:pt x="0" y="108"/>
                </a:moveTo>
                <a:lnTo>
                  <a:pt x="1280" y="108"/>
                </a:lnTo>
                <a:lnTo>
                  <a:pt x="1280" y="110"/>
                </a:lnTo>
                <a:lnTo>
                  <a:pt x="0" y="110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685800" y="333375"/>
            <a:ext cx="42672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1E3A5F"/>
                </a:solidFill>
                <a:latin typeface="Microsoft YaHei"/>
                <a:ea typeface="Microsoft YaHei"/>
              </a:rPr>
              <a:t>失败不是掩盖，是控制住的边界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10382250" y="438150"/>
            <a:ext cx="1123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09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问题与失败尝试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685800" y="1276350"/>
            <a:ext cx="67722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3B82F6"/>
                </a:solidFill>
                <a:latin typeface="Microsoft YaHei"/>
                <a:ea typeface="Microsoft YaHei"/>
              </a:rPr>
              <a:t>问题</a:t>
            </a:r>
            <a:r>
              <a:rPr lang="en-US" sz="1350" b="1">
                <a:solidFill>
                  <a:srgbClr val="3B82F6"/>
                </a:solidFill>
                <a:latin typeface="Microsoft YaHei"/>
                <a:ea typeface="Microsoft YaHei"/>
              </a:rPr>
              <a:t> / </a:t>
            </a:r>
            <a:r>
              <a:rPr lang="zh-CN" sz="1350" b="1">
                <a:solidFill>
                  <a:srgbClr val="3B82F6"/>
                </a:solidFill>
                <a:latin typeface="Microsoft YaHei"/>
                <a:ea typeface="Microsoft YaHei"/>
              </a:rPr>
              <a:t>失败</a:t>
            </a:r>
            <a:r>
              <a:rPr lang="en-US" sz="1350" b="1">
                <a:solidFill>
                  <a:srgbClr val="3B82F6"/>
                </a:solidFill>
                <a:latin typeface="Microsoft YaHei"/>
                <a:ea typeface="Microsoft YaHei"/>
              </a:rPr>
              <a:t> → </a:t>
            </a:r>
            <a:r>
              <a:rPr lang="zh-CN" sz="1350" b="1">
                <a:solidFill>
                  <a:srgbClr val="3B82F6"/>
                </a:solidFill>
                <a:latin typeface="Microsoft YaHei"/>
                <a:ea typeface="Microsoft YaHei"/>
              </a:rPr>
              <a:t>解决过程（有据可查）</a:t>
            </a:r>
            <a:endParaRPr/>
          </a:p>
        </p:txBody>
      </p:sp>
      <p:graphicFrame>
        <p:nvGraphicFramePr>
          <p:cNvPr id="284" name=""/>
          <p:cNvGraphicFramePr/>
          <p:nvPr/>
        </p:nvGraphicFramePr>
        <p:xfrm rot="0" flipH="0" flipV="0">
          <a:off x="685800" y="1600200"/>
          <a:ext cx="6772275" cy="4686300"/>
        </p:xfrm>
        <a:graphic>
          <a:graphicData uri="http://schemas.openxmlformats.org/drawingml/2006/table">
            <a:tbl>
              <a:tblGrid>
                <a:gridCol w="2239246">
                  <a:extLst>
                    <a:ext uri="{9D8B030D-6E8A-4147-A177-3AD203B41FA5}">
                      <a16:colId val="1"/>
                    </a:ext>
                  </a:extLst>
                </a:gridCol>
                <a:gridCol w="4533029">
                  <a:extLst>
                    <a:ext uri="{9D8B030D-6E8A-4147-A177-3AD203B41FA5}">
                      <a16:colId val="2"/>
                    </a:ext>
                  </a:extLst>
                </a:gridCol>
              </a:tblGrid>
              <a:tr h="5207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问题 / 失败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解决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5207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复述长目录连续失败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改 SC01 稳定编号，服务端映射回真实标题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5207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单次调用 59 秒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地图与讲解关闭 Qwen thinking，降到 11 秒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5207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讲解混入文档外事实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强制「该文档规定」措辞，不加来源外事实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5207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SSRF 与开发网络冲突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不放松白名单，本地改用文件上传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5207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316 页 576,976 字符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允许规模判断，索引块截断并告警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5207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127.0.0.1 同源误判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改用请求 Host + 协议重建外部原点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  <a:tr h="5207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Redis 选型后主动放弃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暂不引入，保留内存边界，不谎称支持重启恢复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8"/>
                  </a:ext>
                </a:extLst>
              </a:tr>
              <a:tr h="5207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API key 曾暴露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975">
                          <a:solidFill>
                            <a:srgbClr val="334155"/>
                          </a:solidFill>
                          <a:latin typeface="Microsoft YaHei"/>
                          <a:ea typeface="Microsoft YaHei"/>
                        </a:rPr>
                        <a:t>列入待办轮换，本次截图规避不泄露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9"/>
                  </a:ext>
                </a:extLst>
              </a:tr>
            </a:tbl>
          </a:graphicData>
        </a:graphic>
      </p:graphicFrame>
      <p:sp>
        <p:nvSpPr>
          <p:cNvPr id="285" name=""/>
          <p:cNvSpPr/>
          <p:nvPr/>
        </p:nvSpPr>
        <p:spPr>
          <a:xfrm rot="0" flipH="0" flipV="0">
            <a:off x="7667625" y="1276350"/>
            <a:ext cx="3838575" cy="4171950"/>
          </a:xfrm>
          <a:prstGeom prst="roundRect">
            <a:avLst>
              <a:gd name="adj" fmla="val 2978"/>
            </a:avLst>
          </a:prstGeom>
          <a:gradFill>
            <a:gsLst>
              <a:gs pos="0">
                <a:srgbClr val="F59E0B"/>
              </a:gs>
              <a:gs pos="100000">
                <a:srgbClr val="F97316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7858125" y="2486025"/>
            <a:ext cx="3457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FFFFFF"/>
                </a:solidFill>
                <a:latin typeface="Microsoft YaHei"/>
                <a:ea typeface="Microsoft YaHei"/>
              </a:rPr>
              <a:t>一次果断的刹停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7858125" y="2771775"/>
            <a:ext cx="3457575" cy="6858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正式开发前，把「通用课程学习助手」</a:t>
            </a:r>
            <a:endParaRPr/>
          </a:p>
          <a:p>
            <a:pPr>
              <a:lnSpc>
                <a:spcPct val="15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改为「技术文档精读助手」</a:t>
            </a:r>
            <a:endParaRPr/>
          </a:p>
        </p:txBody>
      </p:sp>
      <p:sp>
        <p:nvSpPr>
          <p:cNvPr id="288" name=""/>
          <p:cNvSpPr/>
          <p:nvPr/>
        </p:nvSpPr>
        <p:spPr>
          <a:xfrm rot="0" flipH="0" flipV="0">
            <a:off x="7858125" y="3457575"/>
            <a:ext cx="1381125" cy="1905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  <p:txBody>
          <a:bodyPr/>
          <a:p/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7858125" y="3476625"/>
            <a:ext cx="3457575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FFF7ED"/>
                </a:solidFill>
                <a:latin typeface="Microsoft YaHei"/>
                <a:ea typeface="Microsoft YaHei"/>
              </a:rPr>
              <a:t>泛化方向过宽</a:t>
            </a:r>
            <a:r>
              <a:rPr lang="en-US" sz="1050">
                <a:solidFill>
                  <a:srgbClr val="FFF7ED"/>
                </a:solidFill>
                <a:latin typeface="Microsoft YaHei"/>
                <a:ea typeface="Microsoft YaHei"/>
              </a:rPr>
              <a:t> → </a:t>
            </a:r>
            <a:r>
              <a:rPr lang="zh-CN" sz="1050">
                <a:solidFill>
                  <a:srgbClr val="FFF7ED"/>
                </a:solidFill>
                <a:latin typeface="Microsoft YaHei"/>
                <a:ea typeface="Microsoft YaHei"/>
              </a:rPr>
              <a:t>主动收窄到「开发者精读陌生技术规范」，用户、材料、任务、成果都更明确，避免了后续失控。</a:t>
            </a:r>
            <a:endParaRPr/>
          </a:p>
        </p:txBody>
      </p:sp>
      <p:sp>
        <p:nvSpPr>
          <p:cNvPr id="290" name=""/>
          <p:cNvSpPr/>
          <p:nvPr/>
        </p:nvSpPr>
        <p:spPr>
          <a:xfrm rot="0" flipH="0" flipV="0">
            <a:off x="7667625" y="5581650"/>
            <a:ext cx="3838575" cy="704850"/>
          </a:xfrm>
          <a:prstGeom prst="roundRect">
            <a:avLst>
              <a:gd name="adj" fmla="val 13514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7800975" y="5695950"/>
            <a:ext cx="3571875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 b="1">
                <a:solidFill>
                  <a:srgbClr val="1E3A5F"/>
                </a:solidFill>
                <a:latin typeface="Microsoft YaHei"/>
                <a:ea typeface="Microsoft YaHei"/>
              </a:rPr>
              <a:t>价值：</a:t>
            </a:r>
            <a:r>
              <a:rPr lang="zh-CN" sz="975">
                <a:solidFill>
                  <a:srgbClr val="334155"/>
                </a:solidFill>
                <a:latin typeface="Microsoft YaHei"/>
                <a:ea typeface="Microsoft YaHei"/>
              </a:rPr>
              <a:t>失败被如实记录在决策与验收文档，</a:t>
            </a:r>
            <a:r>
              <a:rPr lang="en-US" sz="975">
                <a:solidFill>
                  <a:srgbClr val="334155"/>
                </a:solidFill>
                <a:latin typeface="Microsoft YaHei"/>
                <a:ea typeface="Microsoft YaHei"/>
              </a:rPr>
              <a:t>20 </a:t>
            </a:r>
            <a:r>
              <a:rPr lang="zh-CN" sz="975">
                <a:solidFill>
                  <a:srgbClr val="334155"/>
                </a:solidFill>
                <a:latin typeface="Microsoft YaHei"/>
                <a:ea typeface="Microsoft YaHei"/>
              </a:rPr>
              <a:t>条决策全部有据可查。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685800" y="650557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Lumen ·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技术文档精读助手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11096625" y="65055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09 / 10</a:t>
            </a:r>
            <a:endParaRPr/>
          </a:p>
        </p:txBody>
      </p:sp>
    </p:spTree>
  </p:cSld>
</p:sld>
</file>

<file path=ppt/slides/slide10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5" name="" descr="&lt;Slide&#10;  notes={`&#10;    最后是下一步。P6 要先解决公网部署前置——会话存储外部化、限流预算、托管平台、URL 补测。v0.3 我想做个 AI 助教实验，v0.4 再评估账号和多文档。我也清楚地知道现在的不足：没有 OCR，引用 ID 合法不代表每句话都被语义支持，刷新不恢复 UI 状态。但核心是——我把&quot;可信&quot;做成了产品主张，把&quot;AI 控制在证据边界内&quot;做成了工程实践。&#10;`}&#10;&gt;&#10;  &lt;Box style={{ width: '100%', height: '100%', paddingTop: 0 }}&gt;&#10;    {/* A 区 标题块 */}&#10;    &lt;Box style={{ height: 110, justifyContent: 'center', paddingLeft: 72, paddingRight: 72, borderBottom: '2px solid #E2E8F0' }}&gt;&#10;      &lt;Box style={{ flexDirection: 'row', alignItems: 'center', justifyContent: 'space-between' }}&gt;&#10;        &lt;Text style={{ fontSize: 32, fontWeight: 'bold', color: '#1E3A5F' }}&gt;稳的 Demo，清晰的下一步&lt;/Text&gt;&#10;        &lt;Text style={{ fontSize: 14, color: '#64748B' }}&gt;10 下一步改进&lt;/Text&gt;&#10;      &lt;/Box&gt;&#10;    &lt;/Box&gt;&#10;&#10;    {/* B 区 下一步 + 总结 */}&#10;    &lt;Box style={{ height: 550, flexDirection: 'column', paddingLeft: 72, paddingRight: 72, paddingTop: 24, gap: 14, justifyContent: 'center' }}&gt;&#10;      {/* 下一步三阶段 */}&#10;      &lt;Box style={{ flexDirection: 'row', gap: 14 }}&gt;&#10;        {[&#10;          { tag: 'P6 · 公网部署', items: ['会话存储外部化', '模型预算与限流', '托管平台 / URL 补测'] },&#10;          { tag: 'v0.3 · AI 助教', items: ['单文档、按需检索', '不联网、不跨文档', '独立问答入口'] },&#10;          { tag: 'v0.4 · 再评估', items: ['账号体系', '长期历史、多文档', '完整笔记编辑器'] },&#10;        ].map((col, i) =&gt; (&#10;          &lt;Box key={i} style={{ flex: 1, background: '#F8FAFC', borderRadius: 12, padding: '16px 18px' }}&gt;&#10;            &lt;Text style={{ fontSize: 16, fontWeight: 'bold', color: '#1E3A5F' }}&gt;{col.tag}&lt;/Text&gt;&#10;            &lt;Box style={{ flexDirection: 'column', gap: 8, marginTop: 12 }}&gt;&#10;              {col.items.map((it, j) =&gt; (&#10;                &lt;Box key={j} style={{ flexDirection: 'row', alignItems: 'center', gap: 8 }}&gt;&#10;                  &lt;FAIcon name='chevron-right' style={{ fill: '#3B82F6', width: 14, height: 14 }} /&gt;&#10;                  &lt;Text style={{ fontSize: 14, color: '#334155', lineHeight: 1.4 }}&gt;{it}&lt;/Text&gt;&#10;                &lt;/Box&gt;&#10;              ))}&#10;            &lt;/Box&gt;&#10;          &lt;/Box&gt;&#10;        ))}&#10;      &lt;/Box&gt;&#10;&#10;      {/* 已知不足 + 总结金句 */}&#10;      &lt;Box style={{ flexDirection: 'row', gap: 14 }}&gt;&#10;        &lt;Box style={{ flex: 1, background: '#FFF7ED', borderRadius: 10, padding: '14px 16px', border: '1px solid #FDE68A' }}&gt;&#10;          &lt;Text style={{ fontSize: 14, fontWeight: 'bold', color: '#B45309' }}&gt;知道不足（不掩盖）&lt;/Text&gt;&#10;          &lt;Text style={{ fontSize: 13, color: '#92400E', lineHeight: 1.6, marginTop: 8 }}&gt;&#10;            无 OCR · 引用 ID 合法 ≠ 每句被语义支持 · 刷新不恢复 UI 状态&#10;          &lt;/Text&gt;&#10;        &lt;/Box&gt;&#10;        &lt;Box style={{ flex: 1.6, background: '#1E3A5F', borderRadius: 10, padding: '14px 18px', justifyContent: 'center' }}&gt;&#10;          &lt;Text style={{ fontSize: 18, fontWeight: 'bold', color: '#FFFFFF', lineHeight: 1.5 }}&gt;&#10;            把&lt;span style={{ color: '#F59E0B' }}&gt;「可信」&lt;/span&gt;做成产品主张&#10;            &lt;br /&gt;把&lt;span style={{ color: '#F59E0B' }}&gt;「AI 控制在证据边界内」&lt;/span&gt;做成工程实践&#10;          &lt;/Text&gt;&#10;        &lt;/Box&gt;&#10;      &lt;/Box&gt;&#10;&#10;      {/* 落款 */}&#10;      &lt;Box style={{ flexDirection: 'row', justifyContent: 'center', alignItems: 'center', gap: 16, marginTop: 4 }}&gt;&#10;        &lt;Box style={{ width: 40, height: 2, background: '#E2E8F0' }} /&gt;&#10;        &lt;Text style={{ fontSize: 16, color: '#64748B' }}&gt;王腾宇 · AI 产品应用开发实习生&lt;/Text&gt;&#10;        &lt;Box style={{ width: 40, height: 2, background: '#E2E8F0' }} /&gt;&#10;      &lt;/Box&gt;&#10;    &lt;/Box&gt;&#10;&#10;    {/* C 区 页脚 */}&#10;    &lt;Box style={{ position: 'absolute', left: 72, right: 72, bottom: 20, flexDirection: 'row', justifyContent: 'space-between' }}&gt;&#10;      &lt;Text style={{ fontSize: 14, color: '#94A3B8' }}&gt;Lumen · 技术文档精读助手&lt;/Text&gt;&#10;      &lt;Text style={{ fontSize: 14, color: '#94A3B8' }}&gt;10 / 10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/>
        </p:nvSpPr>
        <p:spPr>
          <a:xfrm rot="0" flipH="0" flipV="0">
            <a:off x="0" y="0"/>
            <a:ext cx="12192000" cy="1047750"/>
          </a:xfrm>
          <a:custGeom>
            <a:pathLst>
              <a:path w="1280" h="110">
                <a:moveTo>
                  <a:pt x="0" y="108"/>
                </a:moveTo>
                <a:lnTo>
                  <a:pt x="1280" y="108"/>
                </a:lnTo>
                <a:lnTo>
                  <a:pt x="1280" y="110"/>
                </a:lnTo>
                <a:lnTo>
                  <a:pt x="0" y="110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685800" y="333375"/>
            <a:ext cx="36766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1E3A5F"/>
                </a:solidFill>
                <a:latin typeface="Microsoft YaHei"/>
                <a:ea typeface="Microsoft YaHei"/>
              </a:rPr>
              <a:t>稳的</a:t>
            </a:r>
            <a:r>
              <a:rPr lang="en-US" sz="2400" b="1">
                <a:solidFill>
                  <a:srgbClr val="1E3A5F"/>
                </a:solidFill>
                <a:latin typeface="Microsoft YaHei"/>
                <a:ea typeface="Microsoft YaHei"/>
              </a:rPr>
              <a:t> Demo</a:t>
            </a:r>
            <a:r>
              <a:rPr lang="zh-CN" sz="2400" b="1">
                <a:solidFill>
                  <a:srgbClr val="1E3A5F"/>
                </a:solidFill>
                <a:latin typeface="Microsoft YaHei"/>
                <a:ea typeface="Microsoft YaHei"/>
              </a:rPr>
              <a:t>，清晰的下一步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10648950" y="438150"/>
            <a:ext cx="857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10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下一步改进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685800" y="2371725"/>
            <a:ext cx="3514725" cy="1447800"/>
          </a:xfrm>
          <a:prstGeom prst="roundRect">
            <a:avLst>
              <a:gd name="adj" fmla="val 7895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857250" y="2524125"/>
            <a:ext cx="3171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3A5F"/>
                </a:solidFill>
                <a:latin typeface="Microsoft YaHei"/>
                <a:ea typeface="Microsoft YaHei"/>
              </a:rPr>
              <a:t>P6 · </a:t>
            </a:r>
            <a:r>
              <a:rPr lang="zh-CN" sz="1200" b="1">
                <a:solidFill>
                  <a:srgbClr val="1E3A5F"/>
                </a:solidFill>
                <a:latin typeface="Microsoft YaHei"/>
                <a:ea typeface="Microsoft YaHei"/>
              </a:rPr>
              <a:t>公网部署</a:t>
            </a:r>
            <a:endParaRPr/>
          </a:p>
        </p:txBody>
      </p:sp>
      <p:pic>
        <p:nvPicPr>
          <p:cNvPr id="2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57250" y="2876550"/>
            <a:ext cx="133350" cy="133350"/>
          </a:xfrm>
          <a:prstGeom prst="rect">
            <a:avLst/>
          </a:prstGeom>
          <a:ln/>
        </p:spPr>
      </p:pic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1066800" y="2828925"/>
            <a:ext cx="93345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会话存储外部化</a:t>
            </a:r>
            <a:endParaRPr/>
          </a:p>
        </p:txBody>
      </p:sp>
      <p:pic>
        <p:nvPicPr>
          <p:cNvPr id="2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57250" y="3181350"/>
            <a:ext cx="133350" cy="133350"/>
          </a:xfrm>
          <a:prstGeom prst="rect">
            <a:avLst/>
          </a:prstGeom>
          <a:ln/>
        </p:spPr>
      </p:pic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1066800" y="3133725"/>
            <a:ext cx="93345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模型预算与限流</a:t>
            </a:r>
            <a:endParaRPr/>
          </a:p>
        </p:txBody>
      </p:sp>
      <p:pic>
        <p:nvPicPr>
          <p:cNvPr id="2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57250" y="3486150"/>
            <a:ext cx="133350" cy="133350"/>
          </a:xfrm>
          <a:prstGeom prst="rect">
            <a:avLst/>
          </a:prstGeom>
          <a:ln/>
        </p:spPr>
      </p:pic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1066800" y="3438525"/>
            <a:ext cx="12192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托管平台</a:t>
            </a:r>
            <a:r>
              <a:rPr lang="en-US" sz="1050">
                <a:solidFill>
                  <a:srgbClr val="334155"/>
                </a:solidFill>
                <a:latin typeface="Microsoft YaHei"/>
                <a:ea typeface="Microsoft YaHei"/>
              </a:rPr>
              <a:t> / URL </a:t>
            </a: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补测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4333875" y="2371725"/>
            <a:ext cx="3524250" cy="1447800"/>
          </a:xfrm>
          <a:prstGeom prst="roundRect">
            <a:avLst>
              <a:gd name="adj" fmla="val 7895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4505325" y="2524125"/>
            <a:ext cx="3181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3A5F"/>
                </a:solidFill>
                <a:latin typeface="Microsoft YaHei"/>
                <a:ea typeface="Microsoft YaHei"/>
              </a:rPr>
              <a:t>v0.3 · AI </a:t>
            </a:r>
            <a:r>
              <a:rPr lang="zh-CN" sz="1200" b="1">
                <a:solidFill>
                  <a:srgbClr val="1E3A5F"/>
                </a:solidFill>
                <a:latin typeface="Microsoft YaHei"/>
                <a:ea typeface="Microsoft YaHei"/>
              </a:rPr>
              <a:t>助教</a:t>
            </a:r>
            <a:endParaRPr/>
          </a:p>
        </p:txBody>
      </p:sp>
      <p:pic>
        <p:nvPicPr>
          <p:cNvPr id="2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505325" y="2876550"/>
            <a:ext cx="133350" cy="133350"/>
          </a:xfrm>
          <a:prstGeom prst="rect">
            <a:avLst/>
          </a:prstGeom>
          <a:ln/>
        </p:spPr>
      </p:pic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4714875" y="2828925"/>
            <a:ext cx="10668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单文档、按需检索</a:t>
            </a:r>
            <a:endParaRPr/>
          </a:p>
        </p:txBody>
      </p:sp>
      <p:pic>
        <p:nvPicPr>
          <p:cNvPr id="3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505325" y="3181350"/>
            <a:ext cx="133350" cy="133350"/>
          </a:xfrm>
          <a:prstGeom prst="rect">
            <a:avLst/>
          </a:prstGeom>
          <a:ln/>
        </p:spPr>
      </p:pic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4714875" y="3133725"/>
            <a:ext cx="10668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不联网、不跨文档</a:t>
            </a:r>
            <a:endParaRPr/>
          </a:p>
        </p:txBody>
      </p:sp>
      <p:pic>
        <p:nvPicPr>
          <p:cNvPr id="3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505325" y="3486150"/>
            <a:ext cx="133350" cy="133350"/>
          </a:xfrm>
          <a:prstGeom prst="rect">
            <a:avLst/>
          </a:prstGeom>
          <a:ln/>
        </p:spPr>
      </p:pic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4714875" y="3438525"/>
            <a:ext cx="8001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独立问答入口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7991475" y="2371725"/>
            <a:ext cx="3514725" cy="1447800"/>
          </a:xfrm>
          <a:prstGeom prst="roundRect">
            <a:avLst>
              <a:gd name="adj" fmla="val 7895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8162925" y="2524125"/>
            <a:ext cx="3171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3A5F"/>
                </a:solidFill>
                <a:latin typeface="Microsoft YaHei"/>
                <a:ea typeface="Microsoft YaHei"/>
              </a:rPr>
              <a:t>v0.4 · </a:t>
            </a:r>
            <a:r>
              <a:rPr lang="zh-CN" sz="1200" b="1">
                <a:solidFill>
                  <a:srgbClr val="1E3A5F"/>
                </a:solidFill>
                <a:latin typeface="Microsoft YaHei"/>
                <a:ea typeface="Microsoft YaHei"/>
              </a:rPr>
              <a:t>再评估</a:t>
            </a:r>
            <a:endParaRPr/>
          </a:p>
        </p:txBody>
      </p:sp>
      <p:pic>
        <p:nvPicPr>
          <p:cNvPr id="3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162925" y="2876550"/>
            <a:ext cx="133350" cy="133350"/>
          </a:xfrm>
          <a:prstGeom prst="rect">
            <a:avLst/>
          </a:prstGeom>
          <a:ln/>
        </p:spPr>
      </p:pic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8372475" y="2828925"/>
            <a:ext cx="5334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账号体系</a:t>
            </a:r>
            <a:endParaRPr/>
          </a:p>
        </p:txBody>
      </p:sp>
      <p:pic>
        <p:nvPicPr>
          <p:cNvPr id="3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162925" y="3181350"/>
            <a:ext cx="133350" cy="133350"/>
          </a:xfrm>
          <a:prstGeom prst="rect">
            <a:avLst/>
          </a:prstGeom>
          <a:ln/>
        </p:spPr>
      </p:pic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8372475" y="3133725"/>
            <a:ext cx="10668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长期历史、多文档</a:t>
            </a:r>
            <a:endParaRPr/>
          </a:p>
        </p:txBody>
      </p:sp>
      <p:pic>
        <p:nvPicPr>
          <p:cNvPr id="4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162925" y="3486150"/>
            <a:ext cx="133350" cy="133350"/>
          </a:xfrm>
          <a:prstGeom prst="rect">
            <a:avLst/>
          </a:prstGeom>
          <a:ln/>
        </p:spPr>
      </p:pic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8372475" y="3438525"/>
            <a:ext cx="93345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334155"/>
                </a:solidFill>
                <a:latin typeface="Microsoft YaHei"/>
                <a:ea typeface="Microsoft YaHei"/>
              </a:rPr>
              <a:t>完整笔记编辑器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685800" y="3952875"/>
            <a:ext cx="4114800" cy="885825"/>
          </a:xfrm>
          <a:prstGeom prst="roundRect">
            <a:avLst>
              <a:gd name="adj" fmla="val 10753"/>
            </a:avLst>
          </a:prstGeom>
          <a:solidFill>
            <a:srgbClr val="FFF7ED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838200" y="4086225"/>
            <a:ext cx="3810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B45309"/>
                </a:solidFill>
                <a:latin typeface="Microsoft YaHei"/>
                <a:ea typeface="Microsoft YaHei"/>
              </a:rPr>
              <a:t>知道不足（不掩盖）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838200" y="4324350"/>
            <a:ext cx="381000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92400E"/>
                </a:solidFill>
                <a:latin typeface="Microsoft YaHei"/>
                <a:ea typeface="Microsoft YaHei"/>
              </a:rPr>
              <a:t>无</a:t>
            </a:r>
            <a:r>
              <a:rPr lang="en-US" sz="975">
                <a:solidFill>
                  <a:srgbClr val="92400E"/>
                </a:solidFill>
                <a:latin typeface="Microsoft YaHei"/>
                <a:ea typeface="Microsoft YaHei"/>
              </a:rPr>
              <a:t> OCR · </a:t>
            </a:r>
            <a:r>
              <a:rPr lang="zh-CN" sz="975">
                <a:solidFill>
                  <a:srgbClr val="92400E"/>
                </a:solidFill>
                <a:latin typeface="Microsoft YaHei"/>
                <a:ea typeface="Microsoft YaHei"/>
              </a:rPr>
              <a:t>引用</a:t>
            </a:r>
            <a:r>
              <a:rPr lang="en-US" sz="975">
                <a:solidFill>
                  <a:srgbClr val="92400E"/>
                </a:solidFill>
                <a:latin typeface="Microsoft YaHei"/>
                <a:ea typeface="Microsoft YaHei"/>
              </a:rPr>
              <a:t> ID </a:t>
            </a:r>
            <a:r>
              <a:rPr lang="zh-CN" sz="975">
                <a:solidFill>
                  <a:srgbClr val="92400E"/>
                </a:solidFill>
                <a:latin typeface="Microsoft YaHei"/>
                <a:ea typeface="Microsoft YaHei"/>
              </a:rPr>
              <a:t>合法</a:t>
            </a:r>
            <a:r>
              <a:rPr lang="en-US" sz="975">
                <a:solidFill>
                  <a:srgbClr val="92400E"/>
                </a:solidFill>
                <a:latin typeface="Microsoft YaHei"/>
                <a:ea typeface="Microsoft YaHei"/>
              </a:rPr>
              <a:t> ≠ </a:t>
            </a:r>
            <a:r>
              <a:rPr lang="zh-CN" sz="975">
                <a:solidFill>
                  <a:srgbClr val="92400E"/>
                </a:solidFill>
                <a:latin typeface="Microsoft YaHei"/>
                <a:ea typeface="Microsoft YaHei"/>
              </a:rPr>
              <a:t>每句被语义支持</a:t>
            </a:r>
            <a:r>
              <a:rPr lang="en-US" sz="975">
                <a:solidFill>
                  <a:srgbClr val="92400E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92400E"/>
                </a:solidFill>
                <a:latin typeface="Microsoft YaHei"/>
                <a:ea typeface="Microsoft YaHei"/>
              </a:rPr>
              <a:t>刷新不恢复</a:t>
            </a:r>
            <a:r>
              <a:rPr lang="en-US" sz="975">
                <a:solidFill>
                  <a:srgbClr val="92400E"/>
                </a:solidFill>
                <a:latin typeface="Microsoft YaHei"/>
                <a:ea typeface="Microsoft YaHei"/>
              </a:rPr>
              <a:t> UI </a:t>
            </a:r>
            <a:r>
              <a:rPr lang="zh-CN" sz="975">
                <a:solidFill>
                  <a:srgbClr val="92400E"/>
                </a:solidFill>
                <a:latin typeface="Microsoft YaHei"/>
                <a:ea typeface="Microsoft YaHei"/>
              </a:rPr>
              <a:t>状态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4933950" y="3952875"/>
            <a:ext cx="6572250" cy="885825"/>
          </a:xfrm>
          <a:prstGeom prst="roundRect">
            <a:avLst>
              <a:gd name="adj" fmla="val 10753"/>
            </a:avLst>
          </a:prstGeom>
          <a:solidFill>
            <a:srgbClr val="1E3A5F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5105400" y="4086225"/>
            <a:ext cx="6229350" cy="619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把</a:t>
            </a:r>
            <a:r>
              <a:rPr lang="zh-CN" sz="1350" b="1">
                <a:solidFill>
                  <a:srgbClr val="F59E0B"/>
                </a:solidFill>
                <a:latin typeface="Microsoft YaHei"/>
                <a:ea typeface="Microsoft YaHei"/>
              </a:rPr>
              <a:t>「可信」</a:t>
            </a: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做成产品主张</a:t>
            </a:r>
            <a:endParaRPr/>
          </a:p>
          <a:p>
            <a:pPr>
              <a:lnSpc>
                <a:spcPct val="15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把</a:t>
            </a:r>
            <a:r>
              <a:rPr lang="zh-CN" sz="1350" b="1">
                <a:solidFill>
                  <a:srgbClr val="F59E0B"/>
                </a:solidFill>
                <a:latin typeface="Microsoft YaHei"/>
                <a:ea typeface="Microsoft YaHei"/>
              </a:rPr>
              <a:t>「</a:t>
            </a:r>
            <a:r>
              <a:rPr lang="en-US" sz="1350" b="1">
                <a:solidFill>
                  <a:srgbClr val="F59E0B"/>
                </a:solidFill>
                <a:latin typeface="Microsoft YaHei"/>
                <a:ea typeface="Microsoft YaHei"/>
              </a:rPr>
              <a:t>AI </a:t>
            </a:r>
            <a:r>
              <a:rPr lang="zh-CN" sz="1350" b="1">
                <a:solidFill>
                  <a:srgbClr val="F59E0B"/>
                </a:solidFill>
                <a:latin typeface="Microsoft YaHei"/>
                <a:ea typeface="Microsoft YaHei"/>
              </a:rPr>
              <a:t>控制在证据边界内」</a:t>
            </a: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做成工程实践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4486275" y="5095875"/>
            <a:ext cx="381000" cy="1905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5019675" y="5010150"/>
            <a:ext cx="2152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王腾宇</a:t>
            </a:r>
            <a:r>
              <a:rPr lang="en-US" sz="1200">
                <a:solidFill>
                  <a:srgbClr val="64748B"/>
                </a:solidFill>
                <a:latin typeface="Microsoft YaHei"/>
                <a:ea typeface="Microsoft YaHei"/>
              </a:rPr>
              <a:t> · AI </a:t>
            </a: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产品应用开发实习生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7324725" y="5095875"/>
            <a:ext cx="381000" cy="1905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685800" y="650557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Lumen · </a:t>
            </a: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技术文档精读助手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11096625" y="65055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10 / 10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2026-09-03T16:12:32Z</dcterms:created>
  <dcterms:modified xsi:type="dcterms:W3CDTF">2026-09-03T16:12:32Z</dcterms:modified>
</cp:coreProperties>
</file>